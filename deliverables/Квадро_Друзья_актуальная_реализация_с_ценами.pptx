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7"/>
  </p:normalViewPr>
  <p:slideViewPr>
    <p:cSldViewPr snapToGrid="0" snapToObjects="1">
      <p:cViewPr varScale="1">
        <p:scale>
          <a:sx n="85" d="100"/>
          <a:sy n="85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Здравствуйте! Мы — Турсункулов Хабибулло и Вершинин Максим. Представляем Quadro Friends — iOS-приложение для тех, кто катается на квадроциклах.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 сравнения, проверены 22.10.2026: QuadMaps https://quadmaps.ru/ ; Квадрик https://apps.apple.com/ru/app/%D0%BA%D0%B2%D0%B0%D0%B4%D1%80%D0%B8%D0%BA/id6761011255 ; Guru Maps https://gurumaps.app/docs/intro и https://gurumaps.app/docs/manual/tracks . Вывод о фокусе Quadro Friends основан на текущем iOS-коде. Наличие функций у конкурентов взято из их публичных описаний, без оценки качества.</a:t>
            </a:r>
          </a:p>
          <a:p>
            <a:r>
              <a:t>Стоимость подписок, проверено 22.10.2026. Guru Maps Pro: App Store России для iOS, 129 ₽/месяц и 1 290 ₽/год: https://apps.apple.com/ru/app/guru-maps-%D0%BE%D1%84%D0%BB%D0%B0%D0%B9%D0%BD-%D0%BA%D0%B0%D1%80%D1%82%D1%8B/id321745474 .</a:t>
            </a:r>
          </a:p>
          <a:p>
            <a:r>
              <a:t>QuadMaps: официальный раздел подписки https://quadmaps.ru/subscription и пользовательское соглашение https://quadmaps.ru/terms ; тариф и стоимость доступны после входа в приложение или аккаунт, публичная цена не указана.</a:t>
            </a:r>
          </a:p>
          <a:p>
            <a:r>
              <a:t>Квадрик: карточка в App Store России https://apps.apple.com/ru/app/%D0%BA%D0%B2%D0%B0%D0%B4%D1%80%D0%B8%D0%BA/id6761011255 показывает бесплатную загрузку и не указывает встроенные покупки или подписку. Это не доказывает отсутствие оплаты вне App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Текущая реализация: ContentView выбирает демо или серверные экраны карты и маршрутов. Запись GPS-трека и публикация работают через backend в аккаунтном режиме. Чаты используют общий ChatsRepository с демонстрационной и серверной реализациями. Демо данные хранятся в SwiftData.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App/quadrofriendsApp.swift и ContentView.swift; Features/Chats/ChatsViewModels.swift; Features/Routes/DemoRoutesViewModel.swift, ServerRoutesViewModels.swift и ServerRoutesDataSource.swift; Features/Profile/AccountProfileViewModel.swift; Core/DemoRepository.swift; Features/Chats/API/ChatsRepository.swift; Core/Networking/APIClient.swift и RealtimeClient.swift. У экранов карты и маршрутов используются ViewModel и ServerRoutesDataSource; запись GPS-трека остаётся отдельным MapLocationRecordingStore.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Выбор режима: App/quadrofriendsApp.swift и ContentView.swift. Демоданные: Core/DemoRepository.swift, где SwiftData заполняется из MockData при пустой базе. Демоэкран маршрутов читает DemoRoutesViewModel. Аккаунтные маршруты используют RemoteServerRoutesDataSource, чаты — RemoteChatsRepository, профиль — AccountProfileViewModel и RemoteAccountProfileDataSource.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Core/Networking/APISession.swift, APIClient.swift и RealtimeClient.swift; Features/Routes/ServerRoutesViewModels.swift и ServerRoutesDataSource.swift; Features/Chats/ChatsViewModels.swift и API/ChatsRepository.swift; Features/Map/MapLocationRecordingStore.swift; Features/Chats/ChatLocationSharingStore.swift. В фоне ContentView останавливает WebSocket.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Стек подтверждён текущими файлами Xcode-проекта. Целевая версия iOS 26.2 в project.pbxproj. Актуальный вход: email и пароль. VK_ID_SETUP.md помечен как архивная инструкция, VK ID SDK не указан как текущая функция. В этом слайде показан только проверенный iOS-клиент и его контракт с сервером.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Особенности взяты из текущего iOS-кода. Keychain и обновление токена: Core/Networking/APISession.swift. WebSocket: RealtimeClient.swift. Демо SwiftData: Core/DemoRepository.swift. Передача геопозиции: ChatLocationSharingStore.swift.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Переходим к демонстрации: карта и поиск маршрутов, карточка маршрута, запись поездки, метки, чаты и передача геопозиции.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AE0C39-6FB2-4388-9227-BD14336513BE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/>
          <a:lstStyle>
            <a:lvl1pPr marL="0" indent="0" algn="l">
              <a:buNone/>
              <a:defRPr sz="3000" b="1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sz="300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3CCF37DF-1B52-4844-BCB8-EE4DACE3BCA1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 spc="300">
                <a:solidFill>
                  <a:schemeClr val="accent6"/>
                </a:solidFill>
              </a:rPr>
              <a:t>QUADRO FRIENDS</a:t>
            </a:r>
            <a:endParaRPr sz="10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DD8BBAC-F730-4D60-B263-385D5FAD497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1672" y="63550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7C24278-E4C4-4AB8-8266-07B76ABF84A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1672" y="63550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ип проекта">
            <a:extLst>
              <a:ext uri="{FF2B5EF4-FFF2-40B4-BE49-F238E27FC236}">
                <a16:creationId xmlns:a16="http://schemas.microsoft.com/office/drawing/2014/main" id="{E4228C07-5F7C-419C-BA8A-D05A22B93CEA}"/>
              </a:ext>
            </a:extLst>
          </p:cNvPr>
          <p:cNvSpPr>
            <a:spLocks noGrp="1"/>
          </p:cNvSpPr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 spc="400">
                <a:solidFill>
                  <a:schemeClr val="accent2"/>
                </a:solidFill>
              </a:rPr>
              <a:t>iOS-ПРИЛОЖЕНИЕ</a:t>
            </a:r>
            <a:endParaRPr sz="1400"/>
          </a:p>
        </p:txBody>
      </p:sp>
      <p:sp>
        <p:nvSpPr>
          <p:cNvPr id="3" name="Название">
            <a:extLst>
              <a:ext uri="{FF2B5EF4-FFF2-40B4-BE49-F238E27FC236}">
                <a16:creationId xmlns:a16="http://schemas.microsoft.com/office/drawing/2014/main" id="{2F41A625-E250-49C3-B2E8-47D768C59E9F}"/>
              </a:ext>
            </a:extLst>
          </p:cNvPr>
          <p:cNvSpPr>
            <a:spLocks noGrp="1"/>
          </p:cNvSpPr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0" b="1" spc="600">
                <a:solidFill>
                  <a:schemeClr val="bg1"/>
                </a:solidFill>
              </a:rPr>
              <a:t>QUADRO FRIENDS</a:t>
            </a:r>
            <a:endParaRPr sz="6000"/>
          </a:p>
        </p:txBody>
      </p:sp>
      <p:sp>
        <p:nvSpPr>
          <p:cNvPr id="4" name="Подзаголовок">
            <a:extLst>
              <a:ext uri="{FF2B5EF4-FFF2-40B4-BE49-F238E27FC236}">
                <a16:creationId xmlns:a16="http://schemas.microsoft.com/office/drawing/2014/main" id="{274B622E-D32D-4F76-8DB7-2D0D4CDBE468}"/>
              </a:ext>
            </a:extLst>
          </p:cNvPr>
          <p:cNvSpPr>
            <a:spLocks noGrp="1"/>
          </p:cNvSpPr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>
                <a:solidFill>
                  <a:schemeClr val="accent6"/>
                </a:solidFill>
              </a:rPr>
              <a:t>Маршруты, поездки и общение для райдеров на квадроциклах</a:t>
            </a:r>
            <a:endParaRPr sz="2200"/>
          </a:p>
        </p:txBody>
      </p:sp>
      <p:sp>
        <p:nvSpPr>
          <p:cNvPr id="5" name="Подпись авторов">
            <a:extLst>
              <a:ext uri="{FF2B5EF4-FFF2-40B4-BE49-F238E27FC236}">
                <a16:creationId xmlns:a16="http://schemas.microsoft.com/office/drawing/2014/main" id="{C8F08AF8-9716-46E5-926F-E1F64262538F}"/>
              </a:ext>
            </a:extLst>
          </p:cNvPr>
          <p:cNvSpPr>
            <a:spLocks noGrp="1"/>
          </p:cNvSpPr>
          <p:nvPr/>
        </p:nvSpPr>
        <p:spPr>
          <a:xfrm>
            <a:off x="822960" y="5257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300">
                <a:solidFill>
                  <a:schemeClr val="accent2"/>
                </a:solidFill>
              </a:rPr>
              <a:t>АВТОРЫ</a:t>
            </a:r>
            <a:endParaRPr sz="1100"/>
          </a:p>
        </p:txBody>
      </p:sp>
      <p:sp>
        <p:nvSpPr>
          <p:cNvPr id="6" name="Авторы">
            <a:extLst>
              <a:ext uri="{FF2B5EF4-FFF2-40B4-BE49-F238E27FC236}">
                <a16:creationId xmlns:a16="http://schemas.microsoft.com/office/drawing/2014/main" id="{D030A3B0-FE37-44C4-803F-DA08B266DFF4}"/>
              </a:ext>
            </a:extLst>
          </p:cNvPr>
          <p:cNvSpPr>
            <a:spLocks noGrp="1"/>
          </p:cNvSpPr>
          <p:nvPr/>
        </p:nvSpPr>
        <p:spPr>
          <a:xfrm>
            <a:off x="822960" y="555955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chemeClr val="bg1"/>
                </a:solidFill>
              </a:rPr>
              <a:t>Турсункулов Хабибулло · Вершинин Максим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165674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">
            <a:extLst>
              <a:ext uri="{FF2B5EF4-FFF2-40B4-BE49-F238E27FC236}">
                <a16:creationId xmlns:a16="http://schemas.microsoft.com/office/drawing/2014/main" id="{963EE14F-1B9C-40FE-8177-E11CF14EA2A2}"/>
              </a:ext>
            </a:extLst>
          </p:cNvPr>
          <p:cNvSpPr>
            <a:spLocks noGrp="1"/>
          </p:cNvSpPr>
          <p:nvPr/>
        </p:nvSpPr>
        <p:spPr>
          <a:xfrm>
            <a:off x="638175" y="457200"/>
            <a:ext cx="109061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Анализ конкурентов</a:t>
            </a:r>
          </a:p>
        </p:txBody>
      </p:sp>
      <p:sp>
        <p:nvSpPr>
          <p:cNvPr id="2" name="Подпись">
            <a:extLst>
              <a:ext uri="{FF2B5EF4-FFF2-40B4-BE49-F238E27FC236}">
                <a16:creationId xmlns:a16="http://schemas.microsoft.com/office/drawing/2014/main" id="{7B5CF5F4-B5A8-4570-A71A-5DD13889E5D3}"/>
              </a:ext>
            </a:extLst>
          </p:cNvPr>
          <p:cNvSpPr>
            <a:spLocks noGrp="1"/>
          </p:cNvSpPr>
          <p:nvPr/>
        </p:nvSpPr>
        <p:spPr>
          <a:xfrm>
            <a:off x="638175" y="633412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FB6"/>
                </a:solidFill>
                <a:latin typeface="Arial"/>
                <a:ea typeface="Arial"/>
                <a:cs typeface="Arial"/>
              </a:rPr>
              <a:t>Q U A D R O   F R I E N D S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B0C4E80-59C4-46C6-A045-75335390391A}"/>
              </a:ext>
            </a:extLst>
          </p:cNvPr>
          <p:cNvSpPr>
            <a:spLocks noGrp="1"/>
          </p:cNvSpPr>
          <p:nvPr/>
        </p:nvSpPr>
        <p:spPr>
          <a:xfrm>
            <a:off x="11087100" y="633412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AFB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Пояснение">
            <a:extLst>
              <a:ext uri="{FF2B5EF4-FFF2-40B4-BE49-F238E27FC236}">
                <a16:creationId xmlns:a16="http://schemas.microsoft.com/office/drawing/2014/main" id="{10FA4222-C6B1-49CE-80A6-E3A5767DE36F}"/>
              </a:ext>
            </a:extLst>
          </p:cNvPr>
          <p:cNvSpPr>
            <a:spLocks noGrp="1"/>
          </p:cNvSpPr>
          <p:nvPr/>
        </p:nvSpPr>
        <p:spPr>
          <a:xfrm>
            <a:off x="638175" y="1228725"/>
            <a:ext cx="1066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Сравнение функций и условий подписки на 22 октября 2026 года</a:t>
            </a:r>
          </a:p>
        </p:txBody>
      </p:sp>
      <p:sp>
        <p:nvSpPr>
          <p:cNvPr id="5" name="Шапка 0">
            <a:extLst>
              <a:ext uri="{FF2B5EF4-FFF2-40B4-BE49-F238E27FC236}">
                <a16:creationId xmlns:a16="http://schemas.microsoft.com/office/drawing/2014/main" id="{984BAAED-2666-4B39-B368-327291812676}"/>
              </a:ext>
            </a:extLst>
          </p:cNvPr>
          <p:cNvSpPr>
            <a:spLocks noGrp="1"/>
          </p:cNvSpPr>
          <p:nvPr/>
        </p:nvSpPr>
        <p:spPr>
          <a:xfrm>
            <a:off x="638175" y="1752600"/>
            <a:ext cx="1905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Продукт / подписка</a:t>
            </a:r>
          </a:p>
        </p:txBody>
      </p:sp>
      <p:sp>
        <p:nvSpPr>
          <p:cNvPr id="6" name="Шапка 1">
            <a:extLst>
              <a:ext uri="{FF2B5EF4-FFF2-40B4-BE49-F238E27FC236}">
                <a16:creationId xmlns:a16="http://schemas.microsoft.com/office/drawing/2014/main" id="{FD437ABE-C0C1-4020-9773-75D52F7B1049}"/>
              </a:ext>
            </a:extLst>
          </p:cNvPr>
          <p:cNvSpPr>
            <a:spLocks noGrp="1"/>
          </p:cNvSpPr>
          <p:nvPr/>
        </p:nvSpPr>
        <p:spPr>
          <a:xfrm>
            <a:off x="2781300" y="1752600"/>
            <a:ext cx="4286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Сильные стороны</a:t>
            </a:r>
          </a:p>
        </p:txBody>
      </p:sp>
      <p:sp>
        <p:nvSpPr>
          <p:cNvPr id="7" name="Шапка 2">
            <a:extLst>
              <a:ext uri="{FF2B5EF4-FFF2-40B4-BE49-F238E27FC236}">
                <a16:creationId xmlns:a16="http://schemas.microsoft.com/office/drawing/2014/main" id="{3738D930-78C4-4BB5-8792-394DDCAF0742}"/>
              </a:ext>
            </a:extLst>
          </p:cNvPr>
          <p:cNvSpPr>
            <a:spLocks noGrp="1"/>
          </p:cNvSpPr>
          <p:nvPr/>
        </p:nvSpPr>
        <p:spPr>
          <a:xfrm>
            <a:off x="7353300" y="1752600"/>
            <a:ext cx="4191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Что важно для Quadro Friends</a:t>
            </a:r>
          </a:p>
        </p:txBody>
      </p:sp>
      <p:sp>
        <p:nvSpPr>
          <p:cNvPr id="8" name="Линия шапки">
            <a:extLst>
              <a:ext uri="{FF2B5EF4-FFF2-40B4-BE49-F238E27FC236}">
                <a16:creationId xmlns:a16="http://schemas.microsoft.com/office/drawing/2014/main" id="{212C38F1-5220-4475-9D36-3FF6CD20F71F}"/>
              </a:ext>
            </a:extLst>
          </p:cNvPr>
          <p:cNvSpPr>
            <a:spLocks noGrp="1"/>
          </p:cNvSpPr>
          <p:nvPr/>
        </p:nvSpPr>
        <p:spPr>
          <a:xfrm>
            <a:off x="638175" y="2124075"/>
            <a:ext cx="10906125" cy="12383"/>
          </a:xfrm>
          <a:prstGeom prst="rect">
            <a:avLst/>
          </a:prstGeom>
          <a:solidFill>
            <a:srgbClr val="506A36"/>
          </a:solidFill>
          <a:ln w="0">
            <a:noFill/>
            <a:prstDash val="solid"/>
          </a:ln>
        </p:spPr>
      </p:sp>
      <p:sp>
        <p:nvSpPr>
          <p:cNvPr id="9" name="Продукт 0">
            <a:extLst>
              <a:ext uri="{FF2B5EF4-FFF2-40B4-BE49-F238E27FC236}">
                <a16:creationId xmlns:a16="http://schemas.microsoft.com/office/drawing/2014/main" id="{75E6C9BA-F10E-4FEB-AC9D-816C583A75C6}"/>
              </a:ext>
            </a:extLst>
          </p:cNvPr>
          <p:cNvSpPr>
            <a:spLocks noGrp="1"/>
          </p:cNvSpPr>
          <p:nvPr/>
        </p:nvSpPr>
        <p:spPr>
          <a:xfrm>
            <a:off x="638175" y="2371725"/>
            <a:ext cx="1905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QuadMaps</a:t>
            </a:r>
          </a:p>
        </p:txBody>
      </p:sp>
      <p:sp>
        <p:nvSpPr>
          <p:cNvPr id="10" name="Функции 0">
            <a:extLst>
              <a:ext uri="{FF2B5EF4-FFF2-40B4-BE49-F238E27FC236}">
                <a16:creationId xmlns:a16="http://schemas.microsoft.com/office/drawing/2014/main" id="{D22EC2B4-1EF0-47A7-B9B5-424F9F4202D6}"/>
              </a:ext>
            </a:extLst>
          </p:cNvPr>
          <p:cNvSpPr>
            <a:spLocks noGrp="1"/>
          </p:cNvSpPr>
          <p:nvPr/>
        </p:nvSpPr>
        <p:spPr>
          <a:xfrm>
            <a:off x="2781300" y="2324100"/>
            <a:ext cx="42862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Маршруты и запись треков; офлайн-карта; выезды и SOS</a:t>
            </a:r>
          </a:p>
        </p:txBody>
      </p:sp>
      <p:sp>
        <p:nvSpPr>
          <p:cNvPr id="11" name="Вывод 0">
            <a:extLst>
              <a:ext uri="{FF2B5EF4-FFF2-40B4-BE49-F238E27FC236}">
                <a16:creationId xmlns:a16="http://schemas.microsoft.com/office/drawing/2014/main" id="{0E92F1C1-38D7-4815-A87E-5682C02956C0}"/>
              </a:ext>
            </a:extLst>
          </p:cNvPr>
          <p:cNvSpPr>
            <a:spLocks noGrp="1"/>
          </p:cNvSpPr>
          <p:nvPr/>
        </p:nvSpPr>
        <p:spPr>
          <a:xfrm>
            <a:off x="7353300" y="2324100"/>
            <a:ext cx="41910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Широкий набор функций вокруг совместных поездок. Офлайн-доступ задаёт ориентир для развития.</a:t>
            </a:r>
          </a:p>
        </p:txBody>
      </p:sp>
      <p:sp>
        <p:nvSpPr>
          <p:cNvPr id="12" name="Разделитель 0">
            <a:extLst>
              <a:ext uri="{FF2B5EF4-FFF2-40B4-BE49-F238E27FC236}">
                <a16:creationId xmlns:a16="http://schemas.microsoft.com/office/drawing/2014/main" id="{7D814DA8-0A9F-46D4-BBB8-4EFBB879711F}"/>
              </a:ext>
            </a:extLst>
          </p:cNvPr>
          <p:cNvSpPr>
            <a:spLocks noGrp="1"/>
          </p:cNvSpPr>
          <p:nvPr/>
        </p:nvSpPr>
        <p:spPr>
          <a:xfrm>
            <a:off x="638175" y="3286125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3" name="Продукт 1">
            <a:extLst>
              <a:ext uri="{FF2B5EF4-FFF2-40B4-BE49-F238E27FC236}">
                <a16:creationId xmlns:a16="http://schemas.microsoft.com/office/drawing/2014/main" id="{A9D71CB4-29C5-4033-8160-7C41AD24CB09}"/>
              </a:ext>
            </a:extLst>
          </p:cNvPr>
          <p:cNvSpPr>
            <a:spLocks noGrp="1"/>
          </p:cNvSpPr>
          <p:nvPr/>
        </p:nvSpPr>
        <p:spPr>
          <a:xfrm>
            <a:off x="638175" y="3429000"/>
            <a:ext cx="1905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Квадрик</a:t>
            </a:r>
          </a:p>
        </p:txBody>
      </p:sp>
      <p:sp>
        <p:nvSpPr>
          <p:cNvPr id="14" name="Функции 1">
            <a:extLst>
              <a:ext uri="{FF2B5EF4-FFF2-40B4-BE49-F238E27FC236}">
                <a16:creationId xmlns:a16="http://schemas.microsoft.com/office/drawing/2014/main" id="{15BAC482-E9DB-41F3-A9FE-D285FDC8BB01}"/>
              </a:ext>
            </a:extLst>
          </p:cNvPr>
          <p:cNvSpPr>
            <a:spLocks noGrp="1"/>
          </p:cNvSpPr>
          <p:nvPr/>
        </p:nvSpPr>
        <p:spPr>
          <a:xfrm>
            <a:off x="2781300" y="3381375"/>
            <a:ext cx="42862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Офлайн-карты и треки; чат; друзья на карте; журнал ТО</a:t>
            </a:r>
          </a:p>
        </p:txBody>
      </p:sp>
      <p:sp>
        <p:nvSpPr>
          <p:cNvPr id="15" name="Вывод 1">
            <a:extLst>
              <a:ext uri="{FF2B5EF4-FFF2-40B4-BE49-F238E27FC236}">
                <a16:creationId xmlns:a16="http://schemas.microsoft.com/office/drawing/2014/main" id="{3956E6B4-DF86-4357-8085-AF69BD27F5AF}"/>
              </a:ext>
            </a:extLst>
          </p:cNvPr>
          <p:cNvSpPr>
            <a:spLocks noGrp="1"/>
          </p:cNvSpPr>
          <p:nvPr/>
        </p:nvSpPr>
        <p:spPr>
          <a:xfrm>
            <a:off x="7353300" y="3381375"/>
            <a:ext cx="41910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Близкое ядро продукта. В нашем сценарии геопозиция передаётся участникам чата на заданный срок.</a:t>
            </a:r>
          </a:p>
        </p:txBody>
      </p:sp>
      <p:sp>
        <p:nvSpPr>
          <p:cNvPr id="16" name="Разделитель 1">
            <a:extLst>
              <a:ext uri="{FF2B5EF4-FFF2-40B4-BE49-F238E27FC236}">
                <a16:creationId xmlns:a16="http://schemas.microsoft.com/office/drawing/2014/main" id="{9A2E8C95-84EF-46AC-9672-5F85543AF73D}"/>
              </a:ext>
            </a:extLst>
          </p:cNvPr>
          <p:cNvSpPr>
            <a:spLocks noGrp="1"/>
          </p:cNvSpPr>
          <p:nvPr/>
        </p:nvSpPr>
        <p:spPr>
          <a:xfrm>
            <a:off x="638175" y="4343400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7" name="Продукт 2">
            <a:extLst>
              <a:ext uri="{FF2B5EF4-FFF2-40B4-BE49-F238E27FC236}">
                <a16:creationId xmlns:a16="http://schemas.microsoft.com/office/drawing/2014/main" id="{809A3511-A487-4DE9-9D28-3EA628815B86}"/>
              </a:ext>
            </a:extLst>
          </p:cNvPr>
          <p:cNvSpPr>
            <a:spLocks noGrp="1"/>
          </p:cNvSpPr>
          <p:nvPr/>
        </p:nvSpPr>
        <p:spPr>
          <a:xfrm>
            <a:off x="638175" y="4486275"/>
            <a:ext cx="1905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Guru Maps</a:t>
            </a:r>
          </a:p>
        </p:txBody>
      </p:sp>
      <p:sp>
        <p:nvSpPr>
          <p:cNvPr id="18" name="Функции 2">
            <a:extLst>
              <a:ext uri="{FF2B5EF4-FFF2-40B4-BE49-F238E27FC236}">
                <a16:creationId xmlns:a16="http://schemas.microsoft.com/office/drawing/2014/main" id="{C279BDDC-7AF7-4C35-9688-FDCC154BC43E}"/>
              </a:ext>
            </a:extLst>
          </p:cNvPr>
          <p:cNvSpPr>
            <a:spLocks noGrp="1"/>
          </p:cNvSpPr>
          <p:nvPr/>
        </p:nvSpPr>
        <p:spPr>
          <a:xfrm>
            <a:off x="2781300" y="4438650"/>
            <a:ext cx="42862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Офлайн-карты; запись GPS-треков; импорт и экспорт GPX</a:t>
            </a:r>
          </a:p>
        </p:txBody>
      </p:sp>
      <p:sp>
        <p:nvSpPr>
          <p:cNvPr id="19" name="Вывод 2">
            <a:extLst>
              <a:ext uri="{FF2B5EF4-FFF2-40B4-BE49-F238E27FC236}">
                <a16:creationId xmlns:a16="http://schemas.microsoft.com/office/drawing/2014/main" id="{77932D04-C5B8-43A8-84E2-196729659F3A}"/>
              </a:ext>
            </a:extLst>
          </p:cNvPr>
          <p:cNvSpPr>
            <a:spLocks noGrp="1"/>
          </p:cNvSpPr>
          <p:nvPr/>
        </p:nvSpPr>
        <p:spPr>
          <a:xfrm>
            <a:off x="7353300" y="4438650"/>
            <a:ext cx="41910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Сильный инструмент навигации. Quadro Friends делает акцент на маршрутах и связи группы.</a:t>
            </a:r>
          </a:p>
        </p:txBody>
      </p:sp>
      <p:sp>
        <p:nvSpPr>
          <p:cNvPr id="20" name="Разделитель 2">
            <a:extLst>
              <a:ext uri="{FF2B5EF4-FFF2-40B4-BE49-F238E27FC236}">
                <a16:creationId xmlns:a16="http://schemas.microsoft.com/office/drawing/2014/main" id="{A52A8965-726A-41CD-A073-CFA394076D1A}"/>
              </a:ext>
            </a:extLst>
          </p:cNvPr>
          <p:cNvSpPr>
            <a:spLocks noGrp="1"/>
          </p:cNvSpPr>
          <p:nvPr/>
        </p:nvSpPr>
        <p:spPr>
          <a:xfrm>
            <a:off x="638175" y="5400675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23" name="Подписка 0">
            <a:extLst>
              <a:ext uri="{FF2B5EF4-FFF2-40B4-BE49-F238E27FC236}">
                <a16:creationId xmlns:a16="http://schemas.microsoft.com/office/drawing/2014/main" id="{16B92F22-3FAA-4C1F-8088-2CEACBA58EF8}"/>
              </a:ext>
            </a:extLst>
          </p:cNvPr>
          <p:cNvSpPr>
            <a:spLocks noGrp="1"/>
          </p:cNvSpPr>
          <p:nvPr/>
        </p:nvSpPr>
        <p:spPr>
          <a:xfrm>
            <a:off x="638175" y="2667000"/>
            <a:ext cx="1905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506A36"/>
                </a:solidFill>
                <a:latin typeface="Arial"/>
                <a:ea typeface="Arial"/>
                <a:cs typeface="Arial"/>
              </a:rPr>
              <a:t>800 </a:t>
            </a:r>
            <a:r>
              <a:rPr lang="ru-RU" dirty="0"/>
              <a:t>₽/мес.</a:t>
            </a:r>
            <a:r>
              <a:rPr lang="en-US" sz="1200" dirty="0">
                <a:solidFill>
                  <a:srgbClr val="506A36"/>
                </a:solidFill>
                <a:latin typeface="Arial"/>
                <a:ea typeface="Arial"/>
                <a:cs typeface="Arial"/>
              </a:rPr>
              <a:t> </a:t>
            </a:r>
            <a:endParaRPr sz="1200" dirty="0">
              <a:solidFill>
                <a:srgbClr val="506A3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Подписка 2">
            <a:extLst>
              <a:ext uri="{FF2B5EF4-FFF2-40B4-BE49-F238E27FC236}">
                <a16:creationId xmlns:a16="http://schemas.microsoft.com/office/drawing/2014/main" id="{E3550D6B-3F12-42C1-898A-C9B5C9F7DEBD}"/>
              </a:ext>
            </a:extLst>
          </p:cNvPr>
          <p:cNvSpPr>
            <a:spLocks noGrp="1"/>
          </p:cNvSpPr>
          <p:nvPr/>
        </p:nvSpPr>
        <p:spPr>
          <a:xfrm>
            <a:off x="638175" y="4781550"/>
            <a:ext cx="1905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506A36"/>
                </a:solidFill>
                <a:latin typeface="Arial"/>
                <a:ea typeface="Arial"/>
                <a:cs typeface="Arial"/>
              </a:rPr>
              <a:t>129 ₽/</a:t>
            </a:r>
            <a:r>
              <a:rPr sz="1200" dirty="0" err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мес</a:t>
            </a:r>
            <a:r>
              <a:rPr sz="1200" dirty="0">
                <a:solidFill>
                  <a:srgbClr val="506A3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472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372611-6D9D-4A11-B08F-53B0B1986CF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chemeClr val="tx1"/>
                </a:solidFill>
              </a:rPr>
              <a:t>О чём проект</a:t>
            </a:r>
            <a:endParaRPr sz="3000"/>
          </a:p>
        </p:txBody>
      </p:sp>
      <p:sp>
        <p:nvSpPr>
          <p:cNvPr id="3" name="Описание">
            <a:extLst>
              <a:ext uri="{FF2B5EF4-FFF2-40B4-BE49-F238E27FC236}">
                <a16:creationId xmlns:a16="http://schemas.microsoft.com/office/drawing/2014/main" id="{128B22CA-AC12-421B-96C0-F23040DE6874}"/>
              </a:ext>
            </a:extLst>
          </p:cNvPr>
          <p:cNvSpPr>
            <a:spLocks noGrp="1"/>
          </p:cNvSpPr>
          <p:nvPr/>
        </p:nvSpPr>
        <p:spPr>
          <a:xfrm>
            <a:off x="640080" y="146304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>
                <a:solidFill>
                  <a:schemeClr val="tx1"/>
                </a:solidFill>
              </a:rPr>
              <a:t>Quadro Friends объединяет поиск маршрута, запись поездки и связь группы. В приложении есть аккаунтный режим с серверными данными и деморежим без сервера.</a:t>
            </a:r>
            <a:endParaRPr sz="1600"/>
          </a:p>
        </p:txBody>
      </p:sp>
      <p:sp>
        <p:nvSpPr>
          <p:cNvPr id="4" name="Номер: Карта маршрутов">
            <a:extLst>
              <a:ext uri="{FF2B5EF4-FFF2-40B4-BE49-F238E27FC236}">
                <a16:creationId xmlns:a16="http://schemas.microsoft.com/office/drawing/2014/main" id="{A296C785-6E5B-412C-B017-4F1589977791}"/>
              </a:ext>
            </a:extLst>
          </p:cNvPr>
          <p:cNvSpPr>
            <a:spLocks noGrp="1"/>
          </p:cNvSpPr>
          <p:nvPr/>
        </p:nvSpPr>
        <p:spPr>
          <a:xfrm>
            <a:off x="640080" y="2697480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01</a:t>
            </a:r>
            <a:endParaRPr sz="1800"/>
          </a:p>
        </p:txBody>
      </p:sp>
      <p:sp>
        <p:nvSpPr>
          <p:cNvPr id="5" name="Заголовок: Карта маршрутов">
            <a:extLst>
              <a:ext uri="{FF2B5EF4-FFF2-40B4-BE49-F238E27FC236}">
                <a16:creationId xmlns:a16="http://schemas.microsoft.com/office/drawing/2014/main" id="{1A1AFCA6-E321-4895-83DE-BCF4688C8F89}"/>
              </a:ext>
            </a:extLst>
          </p:cNvPr>
          <p:cNvSpPr>
            <a:spLocks noGrp="1"/>
          </p:cNvSpPr>
          <p:nvPr/>
        </p:nvSpPr>
        <p:spPr>
          <a:xfrm>
            <a:off x="1325880" y="2697480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Карта маршрутов</a:t>
            </a:r>
            <a:endParaRPr sz="1700"/>
          </a:p>
        </p:txBody>
      </p:sp>
      <p:sp>
        <p:nvSpPr>
          <p:cNvPr id="6" name="Описание: Карта маршрутов">
            <a:extLst>
              <a:ext uri="{FF2B5EF4-FFF2-40B4-BE49-F238E27FC236}">
                <a16:creationId xmlns:a16="http://schemas.microsoft.com/office/drawing/2014/main" id="{4C9FD8CF-20F1-4FC1-AD45-59D6947707C5}"/>
              </a:ext>
            </a:extLst>
          </p:cNvPr>
          <p:cNvSpPr>
            <a:spLocks noGrp="1"/>
          </p:cNvSpPr>
          <p:nvPr/>
        </p:nvSpPr>
        <p:spPr>
          <a:xfrm>
            <a:off x="1325880" y="3044952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Серверные маршруты, геометрия и поиск по карте</a:t>
            </a:r>
            <a:endParaRPr sz="1400"/>
          </a:p>
        </p:txBody>
      </p:sp>
      <p:sp>
        <p:nvSpPr>
          <p:cNvPr id="7" name="Номер: Запись поездки">
            <a:extLst>
              <a:ext uri="{FF2B5EF4-FFF2-40B4-BE49-F238E27FC236}">
                <a16:creationId xmlns:a16="http://schemas.microsoft.com/office/drawing/2014/main" id="{D6E490FB-A387-400F-97E3-0BECFCDE7F52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02</a:t>
            </a:r>
            <a:endParaRPr sz="1800"/>
          </a:p>
        </p:txBody>
      </p:sp>
      <p:sp>
        <p:nvSpPr>
          <p:cNvPr id="8" name="Заголовок: Запись поездки">
            <a:extLst>
              <a:ext uri="{FF2B5EF4-FFF2-40B4-BE49-F238E27FC236}">
                <a16:creationId xmlns:a16="http://schemas.microsoft.com/office/drawing/2014/main" id="{A16C6053-6BDB-4264-9550-E20CF1170782}"/>
              </a:ext>
            </a:extLst>
          </p:cNvPr>
          <p:cNvSpPr>
            <a:spLocks noGrp="1"/>
          </p:cNvSpPr>
          <p:nvPr/>
        </p:nvSpPr>
        <p:spPr>
          <a:xfrm>
            <a:off x="1325880" y="3566160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Запись поездки</a:t>
            </a:r>
            <a:endParaRPr sz="1700"/>
          </a:p>
        </p:txBody>
      </p:sp>
      <p:sp>
        <p:nvSpPr>
          <p:cNvPr id="9" name="Описание: Запись поездки">
            <a:extLst>
              <a:ext uri="{FF2B5EF4-FFF2-40B4-BE49-F238E27FC236}">
                <a16:creationId xmlns:a16="http://schemas.microsoft.com/office/drawing/2014/main" id="{3738A6CB-EE87-4265-B68A-985E78EBAA16}"/>
              </a:ext>
            </a:extLst>
          </p:cNvPr>
          <p:cNvSpPr>
            <a:spLocks noGrp="1"/>
          </p:cNvSpPr>
          <p:nvPr/>
        </p:nvSpPr>
        <p:spPr>
          <a:xfrm>
            <a:off x="1325880" y="3913632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GPS-трек, метки и публикация маршрута в аккаунтном режиме</a:t>
            </a:r>
            <a:endParaRPr sz="1400"/>
          </a:p>
        </p:txBody>
      </p:sp>
      <p:sp>
        <p:nvSpPr>
          <p:cNvPr id="10" name="Номер: Чаты и геопозиция">
            <a:extLst>
              <a:ext uri="{FF2B5EF4-FFF2-40B4-BE49-F238E27FC236}">
                <a16:creationId xmlns:a16="http://schemas.microsoft.com/office/drawing/2014/main" id="{CB26858B-286C-42B4-8D4E-D350027A608B}"/>
              </a:ext>
            </a:extLst>
          </p:cNvPr>
          <p:cNvSpPr>
            <a:spLocks noGrp="1"/>
          </p:cNvSpPr>
          <p:nvPr/>
        </p:nvSpPr>
        <p:spPr>
          <a:xfrm>
            <a:off x="640080" y="4434840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03</a:t>
            </a:r>
            <a:endParaRPr sz="1800"/>
          </a:p>
        </p:txBody>
      </p:sp>
      <p:sp>
        <p:nvSpPr>
          <p:cNvPr id="11" name="Заголовок: Чаты и геопозиция">
            <a:extLst>
              <a:ext uri="{FF2B5EF4-FFF2-40B4-BE49-F238E27FC236}">
                <a16:creationId xmlns:a16="http://schemas.microsoft.com/office/drawing/2014/main" id="{9DF66BE5-CB6C-4570-9E23-A9A4BC762596}"/>
              </a:ext>
            </a:extLst>
          </p:cNvPr>
          <p:cNvSpPr>
            <a:spLocks noGrp="1"/>
          </p:cNvSpPr>
          <p:nvPr/>
        </p:nvSpPr>
        <p:spPr>
          <a:xfrm>
            <a:off x="1325880" y="4434840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Чаты и геопозиция</a:t>
            </a:r>
            <a:endParaRPr sz="1700"/>
          </a:p>
        </p:txBody>
      </p:sp>
      <p:sp>
        <p:nvSpPr>
          <p:cNvPr id="12" name="Описание: Чаты и геопозиция">
            <a:extLst>
              <a:ext uri="{FF2B5EF4-FFF2-40B4-BE49-F238E27FC236}">
                <a16:creationId xmlns:a16="http://schemas.microsoft.com/office/drawing/2014/main" id="{E0D56B4E-CF18-4521-93C7-DF493C409C69}"/>
              </a:ext>
            </a:extLst>
          </p:cNvPr>
          <p:cNvSpPr>
            <a:spLocks noGrp="1"/>
          </p:cNvSpPr>
          <p:nvPr/>
        </p:nvSpPr>
        <p:spPr>
          <a:xfrm>
            <a:off x="1325880" y="4782312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Переписка и передача геопозиции участникам чата на час</a:t>
            </a:r>
            <a:endParaRPr sz="1400"/>
          </a:p>
        </p:txBody>
      </p:sp>
      <p:sp>
        <p:nvSpPr>
          <p:cNvPr id="13" name="Номер: Профиль и техника">
            <a:extLst>
              <a:ext uri="{FF2B5EF4-FFF2-40B4-BE49-F238E27FC236}">
                <a16:creationId xmlns:a16="http://schemas.microsoft.com/office/drawing/2014/main" id="{A7DEB082-E22C-4B51-862A-E078F67C1362}"/>
              </a:ext>
            </a:extLst>
          </p:cNvPr>
          <p:cNvSpPr>
            <a:spLocks noGrp="1"/>
          </p:cNvSpPr>
          <p:nvPr/>
        </p:nvSpPr>
        <p:spPr>
          <a:xfrm>
            <a:off x="640080" y="5303520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04</a:t>
            </a:r>
            <a:endParaRPr sz="1800"/>
          </a:p>
        </p:txBody>
      </p:sp>
      <p:sp>
        <p:nvSpPr>
          <p:cNvPr id="14" name="Заголовок: Профиль и техника">
            <a:extLst>
              <a:ext uri="{FF2B5EF4-FFF2-40B4-BE49-F238E27FC236}">
                <a16:creationId xmlns:a16="http://schemas.microsoft.com/office/drawing/2014/main" id="{CDB6B43A-141C-41AB-9B8D-CF8A5738D7B4}"/>
              </a:ext>
            </a:extLst>
          </p:cNvPr>
          <p:cNvSpPr>
            <a:spLocks noGrp="1"/>
          </p:cNvSpPr>
          <p:nvPr/>
        </p:nvSpPr>
        <p:spPr>
          <a:xfrm>
            <a:off x="1325880" y="5303520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Профиль и техника</a:t>
            </a:r>
            <a:endParaRPr sz="1700"/>
          </a:p>
        </p:txBody>
      </p:sp>
      <p:sp>
        <p:nvSpPr>
          <p:cNvPr id="15" name="Описание: Профиль и техника">
            <a:extLst>
              <a:ext uri="{FF2B5EF4-FFF2-40B4-BE49-F238E27FC236}">
                <a16:creationId xmlns:a16="http://schemas.microsoft.com/office/drawing/2014/main" id="{CA10C1C1-4535-4737-8379-AA960FF4BC4F}"/>
              </a:ext>
            </a:extLst>
          </p:cNvPr>
          <p:cNvSpPr>
            <a:spLocks noGrp="1"/>
          </p:cNvSpPr>
          <p:nvPr/>
        </p:nvSpPr>
        <p:spPr>
          <a:xfrm>
            <a:off x="1325880" y="5650992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Данные райдера, его техника и опубликованные маршруты</a:t>
            </a:r>
            <a:endParaRPr sz="1400"/>
          </a:p>
        </p:txBody>
      </p:sp>
      <p:pic>
        <p:nvPicPr>
          <p:cNvPr id="16" name="Экран: карта">
            <a:extLst>
              <a:ext uri="{FF2B5EF4-FFF2-40B4-BE49-F238E27FC236}">
                <a16:creationId xmlns:a16="http://schemas.microsoft.com/office/drawing/2014/main" id="{8624FAEA-D246-4852-8E8E-69354D07E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050" y="1417320"/>
            <a:ext cx="2264751" cy="4800600"/>
          </a:xfrm>
          <a:prstGeom prst="rect">
            <a:avLst/>
          </a:prstGeom>
        </p:spPr>
      </p:pic>
      <p:pic>
        <p:nvPicPr>
          <p:cNvPr id="17" name="Экран: маршрут">
            <a:extLst>
              <a:ext uri="{FF2B5EF4-FFF2-40B4-BE49-F238E27FC236}">
                <a16:creationId xmlns:a16="http://schemas.microsoft.com/office/drawing/2014/main" id="{C86B0D02-4E74-4D72-B234-A1CB9152D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121" y="1417320"/>
            <a:ext cx="2264751" cy="4800600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1D2F5E9-FE77-4634-A3D0-88441D37F3F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1672" y="63550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buNone/>
            </a:pPr>
            <a:fld id="{202359C0-8A7A-196E-DD58-8E6569619F09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917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">
            <a:extLst>
              <a:ext uri="{FF2B5EF4-FFF2-40B4-BE49-F238E27FC236}">
                <a16:creationId xmlns:a16="http://schemas.microsoft.com/office/drawing/2014/main" id="{56B32164-F2E0-42E6-9B0B-E84B94020186}"/>
              </a:ext>
            </a:extLst>
          </p:cNvPr>
          <p:cNvSpPr>
            <a:spLocks noGrp="1"/>
          </p:cNvSpPr>
          <p:nvPr/>
        </p:nvSpPr>
        <p:spPr>
          <a:xfrm>
            <a:off x="638175" y="457200"/>
            <a:ext cx="109061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Архитектура iOS-клиента</a:t>
            </a:r>
          </a:p>
        </p:txBody>
      </p:sp>
      <p:sp>
        <p:nvSpPr>
          <p:cNvPr id="2" name="Подпись">
            <a:extLst>
              <a:ext uri="{FF2B5EF4-FFF2-40B4-BE49-F238E27FC236}">
                <a16:creationId xmlns:a16="http://schemas.microsoft.com/office/drawing/2014/main" id="{0280408F-6B57-4E4C-B1DA-1C66AEE75E61}"/>
              </a:ext>
            </a:extLst>
          </p:cNvPr>
          <p:cNvSpPr>
            <a:spLocks noGrp="1"/>
          </p:cNvSpPr>
          <p:nvPr/>
        </p:nvSpPr>
        <p:spPr>
          <a:xfrm>
            <a:off x="638175" y="633412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FB6"/>
                </a:solidFill>
                <a:latin typeface="Arial"/>
                <a:ea typeface="Arial"/>
                <a:cs typeface="Arial"/>
              </a:rPr>
              <a:t>Q U A D R O   F R I E N D S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245DA5E8-ADE4-4AF2-803E-DB92FA7A842E}"/>
              </a:ext>
            </a:extLst>
          </p:cNvPr>
          <p:cNvSpPr>
            <a:spLocks noGrp="1"/>
          </p:cNvSpPr>
          <p:nvPr/>
        </p:nvSpPr>
        <p:spPr>
          <a:xfrm>
            <a:off x="11087100" y="633412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AFB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Вступление">
            <a:extLst>
              <a:ext uri="{FF2B5EF4-FFF2-40B4-BE49-F238E27FC236}">
                <a16:creationId xmlns:a16="http://schemas.microsoft.com/office/drawing/2014/main" id="{85AD23FF-8CFE-45B2-9FEE-6A6023B123D8}"/>
              </a:ext>
            </a:extLst>
          </p:cNvPr>
          <p:cNvSpPr>
            <a:spLocks noGrp="1"/>
          </p:cNvSpPr>
          <p:nvPr/>
        </p:nvSpPr>
        <p:spPr>
          <a:xfrm>
            <a:off x="638175" y="1238250"/>
            <a:ext cx="109061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quadrofriendsApp создаёт общие сервисы и открывает вход или четыре вкладки.</a:t>
            </a:r>
          </a:p>
        </p:txBody>
      </p:sp>
      <p:sp>
        <p:nvSpPr>
          <p:cNvPr id="5" name="Уровень 0">
            <a:extLst>
              <a:ext uri="{FF2B5EF4-FFF2-40B4-BE49-F238E27FC236}">
                <a16:creationId xmlns:a16="http://schemas.microsoft.com/office/drawing/2014/main" id="{649BF565-7C62-47B0-BF62-9E90C32704BA}"/>
              </a:ext>
            </a:extLst>
          </p:cNvPr>
          <p:cNvSpPr>
            <a:spLocks noGrp="1"/>
          </p:cNvSpPr>
          <p:nvPr/>
        </p:nvSpPr>
        <p:spPr>
          <a:xfrm>
            <a:off x="638175" y="1771650"/>
            <a:ext cx="214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Экраны</a:t>
            </a:r>
          </a:p>
        </p:txBody>
      </p:sp>
      <p:sp>
        <p:nvSpPr>
          <p:cNvPr id="6" name="Левая часть 0">
            <a:extLst>
              <a:ext uri="{FF2B5EF4-FFF2-40B4-BE49-F238E27FC236}">
                <a16:creationId xmlns:a16="http://schemas.microsoft.com/office/drawing/2014/main" id="{319463B1-0B1B-4E5C-9B14-5E4553E24759}"/>
              </a:ext>
            </a:extLst>
          </p:cNvPr>
          <p:cNvSpPr>
            <a:spLocks noGrp="1"/>
          </p:cNvSpPr>
          <p:nvPr/>
        </p:nvSpPr>
        <p:spPr>
          <a:xfrm>
            <a:off x="2905125" y="1771650"/>
            <a:ext cx="39338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SwiftUI: карта, маршруты, профиль</a:t>
            </a:r>
          </a:p>
        </p:txBody>
      </p:sp>
      <p:sp>
        <p:nvSpPr>
          <p:cNvPr id="7" name="Правая часть 0">
            <a:extLst>
              <a:ext uri="{FF2B5EF4-FFF2-40B4-BE49-F238E27FC236}">
                <a16:creationId xmlns:a16="http://schemas.microsoft.com/office/drawing/2014/main" id="{B3CC87B4-4D85-4199-9D35-818FDD12487B}"/>
              </a:ext>
            </a:extLst>
          </p:cNvPr>
          <p:cNvSpPr>
            <a:spLocks noGrp="1"/>
          </p:cNvSpPr>
          <p:nvPr/>
        </p:nvSpPr>
        <p:spPr>
          <a:xfrm>
            <a:off x="7162800" y="1771650"/>
            <a:ext cx="4381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UIKit: список чатов и переписка</a:t>
            </a:r>
          </a:p>
        </p:txBody>
      </p:sp>
      <p:sp>
        <p:nvSpPr>
          <p:cNvPr id="8" name="Архитектурный разделитель 0">
            <a:extLst>
              <a:ext uri="{FF2B5EF4-FFF2-40B4-BE49-F238E27FC236}">
                <a16:creationId xmlns:a16="http://schemas.microsoft.com/office/drawing/2014/main" id="{B96ADD75-04B2-4FF3-87F3-6FA97F8DA49A}"/>
              </a:ext>
            </a:extLst>
          </p:cNvPr>
          <p:cNvSpPr>
            <a:spLocks noGrp="1"/>
          </p:cNvSpPr>
          <p:nvPr/>
        </p:nvSpPr>
        <p:spPr>
          <a:xfrm>
            <a:off x="638175" y="2552700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9" name="Уровень 1">
            <a:extLst>
              <a:ext uri="{FF2B5EF4-FFF2-40B4-BE49-F238E27FC236}">
                <a16:creationId xmlns:a16="http://schemas.microsoft.com/office/drawing/2014/main" id="{14B7BDF6-2DA4-43C7-9026-05D67C26C31D}"/>
              </a:ext>
            </a:extLst>
          </p:cNvPr>
          <p:cNvSpPr>
            <a:spLocks noGrp="1"/>
          </p:cNvSpPr>
          <p:nvPr/>
        </p:nvSpPr>
        <p:spPr>
          <a:xfrm>
            <a:off x="638175" y="2771775"/>
            <a:ext cx="214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Логика экранов</a:t>
            </a:r>
          </a:p>
        </p:txBody>
      </p:sp>
      <p:sp>
        <p:nvSpPr>
          <p:cNvPr id="10" name="Левая часть 1">
            <a:extLst>
              <a:ext uri="{FF2B5EF4-FFF2-40B4-BE49-F238E27FC236}">
                <a16:creationId xmlns:a16="http://schemas.microsoft.com/office/drawing/2014/main" id="{04ED965D-6050-4EA1-AC09-95EE5B149C65}"/>
              </a:ext>
            </a:extLst>
          </p:cNvPr>
          <p:cNvSpPr>
            <a:spLocks noGrp="1"/>
          </p:cNvSpPr>
          <p:nvPr/>
        </p:nvSpPr>
        <p:spPr>
          <a:xfrm>
            <a:off x="2905125" y="2771775"/>
            <a:ext cx="39338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DemoRoutesViewModel и ServerRoutesViewModels</a:t>
            </a:r>
          </a:p>
        </p:txBody>
      </p:sp>
      <p:sp>
        <p:nvSpPr>
          <p:cNvPr id="11" name="Правая часть 1">
            <a:extLst>
              <a:ext uri="{FF2B5EF4-FFF2-40B4-BE49-F238E27FC236}">
                <a16:creationId xmlns:a16="http://schemas.microsoft.com/office/drawing/2014/main" id="{A4F96CB5-417D-4AB5-B88E-5FB1691A97FF}"/>
              </a:ext>
            </a:extLst>
          </p:cNvPr>
          <p:cNvSpPr>
            <a:spLocks noGrp="1"/>
          </p:cNvSpPr>
          <p:nvPr/>
        </p:nvSpPr>
        <p:spPr>
          <a:xfrm>
            <a:off x="7162800" y="2771775"/>
            <a:ext cx="4381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ChatsViewModels и AccountProfileViewModel</a:t>
            </a:r>
          </a:p>
        </p:txBody>
      </p:sp>
      <p:sp>
        <p:nvSpPr>
          <p:cNvPr id="12" name="Архитектурный разделитель 1">
            <a:extLst>
              <a:ext uri="{FF2B5EF4-FFF2-40B4-BE49-F238E27FC236}">
                <a16:creationId xmlns:a16="http://schemas.microsoft.com/office/drawing/2014/main" id="{4DF2B307-C908-4F9F-82DD-297A70C62C9A}"/>
              </a:ext>
            </a:extLst>
          </p:cNvPr>
          <p:cNvSpPr>
            <a:spLocks noGrp="1"/>
          </p:cNvSpPr>
          <p:nvPr/>
        </p:nvSpPr>
        <p:spPr>
          <a:xfrm>
            <a:off x="638175" y="3552825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3" name="Уровень 2">
            <a:extLst>
              <a:ext uri="{FF2B5EF4-FFF2-40B4-BE49-F238E27FC236}">
                <a16:creationId xmlns:a16="http://schemas.microsoft.com/office/drawing/2014/main" id="{41DEDF9A-6E84-4403-871C-D970A08420C7}"/>
              </a:ext>
            </a:extLst>
          </p:cNvPr>
          <p:cNvSpPr>
            <a:spLocks noGrp="1"/>
          </p:cNvSpPr>
          <p:nvPr/>
        </p:nvSpPr>
        <p:spPr>
          <a:xfrm>
            <a:off x="638175" y="3771900"/>
            <a:ext cx="214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Источники данных</a:t>
            </a:r>
          </a:p>
        </p:txBody>
      </p:sp>
      <p:sp>
        <p:nvSpPr>
          <p:cNvPr id="14" name="Левая часть 2">
            <a:extLst>
              <a:ext uri="{FF2B5EF4-FFF2-40B4-BE49-F238E27FC236}">
                <a16:creationId xmlns:a16="http://schemas.microsoft.com/office/drawing/2014/main" id="{9D2B5901-17C6-4BC1-9CDE-CEEAB79204A5}"/>
              </a:ext>
            </a:extLst>
          </p:cNvPr>
          <p:cNvSpPr>
            <a:spLocks noGrp="1"/>
          </p:cNvSpPr>
          <p:nvPr/>
        </p:nvSpPr>
        <p:spPr>
          <a:xfrm>
            <a:off x="2905125" y="3771900"/>
            <a:ext cx="39338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DemoRepository и ChatsRepository</a:t>
            </a:r>
          </a:p>
        </p:txBody>
      </p:sp>
      <p:sp>
        <p:nvSpPr>
          <p:cNvPr id="15" name="Правая часть 2">
            <a:extLst>
              <a:ext uri="{FF2B5EF4-FFF2-40B4-BE49-F238E27FC236}">
                <a16:creationId xmlns:a16="http://schemas.microsoft.com/office/drawing/2014/main" id="{6BC1CCEF-8673-4227-AFB0-48E0455AC3CD}"/>
              </a:ext>
            </a:extLst>
          </p:cNvPr>
          <p:cNvSpPr>
            <a:spLocks noGrp="1"/>
          </p:cNvSpPr>
          <p:nvPr/>
        </p:nvSpPr>
        <p:spPr>
          <a:xfrm>
            <a:off x="7162800" y="3771900"/>
            <a:ext cx="4381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ServerRoutesDataSource и APIClient</a:t>
            </a:r>
          </a:p>
        </p:txBody>
      </p:sp>
      <p:sp>
        <p:nvSpPr>
          <p:cNvPr id="16" name="Архитектурный разделитель 2">
            <a:extLst>
              <a:ext uri="{FF2B5EF4-FFF2-40B4-BE49-F238E27FC236}">
                <a16:creationId xmlns:a16="http://schemas.microsoft.com/office/drawing/2014/main" id="{6321A350-A867-4D23-A534-5E065B97146E}"/>
              </a:ext>
            </a:extLst>
          </p:cNvPr>
          <p:cNvSpPr>
            <a:spLocks noGrp="1"/>
          </p:cNvSpPr>
          <p:nvPr/>
        </p:nvSpPr>
        <p:spPr>
          <a:xfrm>
            <a:off x="638175" y="4552950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7" name="Уровень 3">
            <a:extLst>
              <a:ext uri="{FF2B5EF4-FFF2-40B4-BE49-F238E27FC236}">
                <a16:creationId xmlns:a16="http://schemas.microsoft.com/office/drawing/2014/main" id="{A0DFC5B7-0E46-423F-9588-B4AA5839413D}"/>
              </a:ext>
            </a:extLst>
          </p:cNvPr>
          <p:cNvSpPr>
            <a:spLocks noGrp="1"/>
          </p:cNvSpPr>
          <p:nvPr/>
        </p:nvSpPr>
        <p:spPr>
          <a:xfrm>
            <a:off x="638175" y="4772025"/>
            <a:ext cx="2143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Интеграции</a:t>
            </a:r>
          </a:p>
        </p:txBody>
      </p:sp>
      <p:sp>
        <p:nvSpPr>
          <p:cNvPr id="18" name="Левая часть 3">
            <a:extLst>
              <a:ext uri="{FF2B5EF4-FFF2-40B4-BE49-F238E27FC236}">
                <a16:creationId xmlns:a16="http://schemas.microsoft.com/office/drawing/2014/main" id="{2514BA5D-A38C-4C3E-BE71-6BDB9BBD081D}"/>
              </a:ext>
            </a:extLst>
          </p:cNvPr>
          <p:cNvSpPr>
            <a:spLocks noGrp="1"/>
          </p:cNvSpPr>
          <p:nvPr/>
        </p:nvSpPr>
        <p:spPr>
          <a:xfrm>
            <a:off x="2905125" y="4772025"/>
            <a:ext cx="39338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SwiftData, Keychain, MapKit, CoreLocation</a:t>
            </a:r>
          </a:p>
        </p:txBody>
      </p:sp>
      <p:sp>
        <p:nvSpPr>
          <p:cNvPr id="19" name="Правая часть 3">
            <a:extLst>
              <a:ext uri="{FF2B5EF4-FFF2-40B4-BE49-F238E27FC236}">
                <a16:creationId xmlns:a16="http://schemas.microsoft.com/office/drawing/2014/main" id="{C3755BE4-FD19-44DB-8E93-C349A0EE8B95}"/>
              </a:ext>
            </a:extLst>
          </p:cNvPr>
          <p:cNvSpPr>
            <a:spLocks noGrp="1"/>
          </p:cNvSpPr>
          <p:nvPr/>
        </p:nvSpPr>
        <p:spPr>
          <a:xfrm>
            <a:off x="7162800" y="4772025"/>
            <a:ext cx="4381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226"/>
                </a:solidFill>
                <a:latin typeface="Arial"/>
                <a:ea typeface="Arial"/>
                <a:cs typeface="Arial"/>
              </a:rPr>
              <a:t>APISession, RealtimeClient, REST и WebSocket</a:t>
            </a:r>
          </a:p>
        </p:txBody>
      </p:sp>
      <p:sp>
        <p:nvSpPr>
          <p:cNvPr id="20" name="Архитектурный разделитель 3">
            <a:extLst>
              <a:ext uri="{FF2B5EF4-FFF2-40B4-BE49-F238E27FC236}">
                <a16:creationId xmlns:a16="http://schemas.microsoft.com/office/drawing/2014/main" id="{D462E0FD-8A3A-4F84-B8D0-A61D24C0A9F5}"/>
              </a:ext>
            </a:extLst>
          </p:cNvPr>
          <p:cNvSpPr>
            <a:spLocks noGrp="1"/>
          </p:cNvSpPr>
          <p:nvPr/>
        </p:nvSpPr>
        <p:spPr>
          <a:xfrm>
            <a:off x="638175" y="5553075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21" name="Оговорка">
            <a:extLst>
              <a:ext uri="{FF2B5EF4-FFF2-40B4-BE49-F238E27FC236}">
                <a16:creationId xmlns:a16="http://schemas.microsoft.com/office/drawing/2014/main" id="{F48F132D-938E-4025-90E9-F58578B9E777}"/>
              </a:ext>
            </a:extLst>
          </p:cNvPr>
          <p:cNvSpPr>
            <a:spLocks noGrp="1"/>
          </p:cNvSpPr>
          <p:nvPr/>
        </p:nvSpPr>
        <p:spPr>
          <a:xfrm>
            <a:off x="638175" y="5905500"/>
            <a:ext cx="10906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13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Общие сервисы передаются экранам через SwiftUI environmentObject.</a:t>
            </a:r>
          </a:p>
        </p:txBody>
      </p:sp>
    </p:spTree>
    <p:extLst>
      <p:ext uri="{BB962C8B-B14F-4D97-AF65-F5344CB8AC3E}">
        <p14:creationId xmlns:p14="http://schemas.microsoft.com/office/powerpoint/2010/main" val="128110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">
            <a:extLst>
              <a:ext uri="{FF2B5EF4-FFF2-40B4-BE49-F238E27FC236}">
                <a16:creationId xmlns:a16="http://schemas.microsoft.com/office/drawing/2014/main" id="{5CE1B815-858C-4CD2-A121-9DAF770A14D6}"/>
              </a:ext>
            </a:extLst>
          </p:cNvPr>
          <p:cNvSpPr>
            <a:spLocks noGrp="1"/>
          </p:cNvSpPr>
          <p:nvPr/>
        </p:nvSpPr>
        <p:spPr>
          <a:xfrm>
            <a:off x="638175" y="457200"/>
            <a:ext cx="109061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Два режима данных</a:t>
            </a:r>
          </a:p>
        </p:txBody>
      </p:sp>
      <p:sp>
        <p:nvSpPr>
          <p:cNvPr id="2" name="Подпись">
            <a:extLst>
              <a:ext uri="{FF2B5EF4-FFF2-40B4-BE49-F238E27FC236}">
                <a16:creationId xmlns:a16="http://schemas.microsoft.com/office/drawing/2014/main" id="{1D3375D5-5EC4-4962-8593-E7095791E6B5}"/>
              </a:ext>
            </a:extLst>
          </p:cNvPr>
          <p:cNvSpPr>
            <a:spLocks noGrp="1"/>
          </p:cNvSpPr>
          <p:nvPr/>
        </p:nvSpPr>
        <p:spPr>
          <a:xfrm>
            <a:off x="638175" y="633412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FB6"/>
                </a:solidFill>
                <a:latin typeface="Arial"/>
                <a:ea typeface="Arial"/>
                <a:cs typeface="Arial"/>
              </a:rPr>
              <a:t>Q U A D R O   F R I E N D S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28C2351-D7F7-448A-9132-D5F76CA2D778}"/>
              </a:ext>
            </a:extLst>
          </p:cNvPr>
          <p:cNvSpPr>
            <a:spLocks noGrp="1"/>
          </p:cNvSpPr>
          <p:nvPr/>
        </p:nvSpPr>
        <p:spPr>
          <a:xfrm>
            <a:off x="11087100" y="633412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AFB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Точка выбора">
            <a:extLst>
              <a:ext uri="{FF2B5EF4-FFF2-40B4-BE49-F238E27FC236}">
                <a16:creationId xmlns:a16="http://schemas.microsoft.com/office/drawing/2014/main" id="{022C0630-C803-490C-8EE9-F1E0722ABE69}"/>
              </a:ext>
            </a:extLst>
          </p:cNvPr>
          <p:cNvSpPr>
            <a:spLocks noGrp="1"/>
          </p:cNvSpPr>
          <p:nvPr/>
        </p:nvSpPr>
        <p:spPr>
          <a:xfrm>
            <a:off x="638175" y="1238250"/>
            <a:ext cx="10906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sessionKind и состояние APISession определяют, откуда экран получает данные.</a:t>
            </a:r>
          </a:p>
        </p:txBody>
      </p:sp>
      <p:sp>
        <p:nvSpPr>
          <p:cNvPr id="5" name="Вертикальная граница">
            <a:extLst>
              <a:ext uri="{FF2B5EF4-FFF2-40B4-BE49-F238E27FC236}">
                <a16:creationId xmlns:a16="http://schemas.microsoft.com/office/drawing/2014/main" id="{298F6193-7D9A-4F6A-9058-BE07ADEC6F1F}"/>
              </a:ext>
            </a:extLst>
          </p:cNvPr>
          <p:cNvSpPr>
            <a:spLocks noGrp="1"/>
          </p:cNvSpPr>
          <p:nvPr/>
        </p:nvSpPr>
        <p:spPr>
          <a:xfrm>
            <a:off x="6096000" y="1790700"/>
            <a:ext cx="12383" cy="4038600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6" name="Демо">
            <a:extLst>
              <a:ext uri="{FF2B5EF4-FFF2-40B4-BE49-F238E27FC236}">
                <a16:creationId xmlns:a16="http://schemas.microsoft.com/office/drawing/2014/main" id="{3F1DF56C-7FB5-4E8F-9145-F6804B261401}"/>
              </a:ext>
            </a:extLst>
          </p:cNvPr>
          <p:cNvSpPr>
            <a:spLocks noGrp="1"/>
          </p:cNvSpPr>
          <p:nvPr/>
        </p:nvSpPr>
        <p:spPr>
          <a:xfrm>
            <a:off x="638175" y="1838325"/>
            <a:ext cx="504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Деморежим</a:t>
            </a:r>
          </a:p>
        </p:txBody>
      </p:sp>
      <p:sp>
        <p:nvSpPr>
          <p:cNvPr id="7" name="Аккаунт">
            <a:extLst>
              <a:ext uri="{FF2B5EF4-FFF2-40B4-BE49-F238E27FC236}">
                <a16:creationId xmlns:a16="http://schemas.microsoft.com/office/drawing/2014/main" id="{229D16E6-BCD2-4BCC-A550-B63ADA9FDF2E}"/>
              </a:ext>
            </a:extLst>
          </p:cNvPr>
          <p:cNvSpPr>
            <a:spLocks noGrp="1"/>
          </p:cNvSpPr>
          <p:nvPr/>
        </p:nvSpPr>
        <p:spPr>
          <a:xfrm>
            <a:off x="6477000" y="1838325"/>
            <a:ext cx="504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Аккаунтный режим</a:t>
            </a:r>
          </a:p>
        </p:txBody>
      </p:sp>
      <p:sp>
        <p:nvSpPr>
          <p:cNvPr id="8" name="Экраны заголовок">
            <a:extLst>
              <a:ext uri="{FF2B5EF4-FFF2-40B4-BE49-F238E27FC236}">
                <a16:creationId xmlns:a16="http://schemas.microsoft.com/office/drawing/2014/main" id="{71E6B756-1539-43D8-8659-6896C1EEA9AC}"/>
              </a:ext>
            </a:extLst>
          </p:cNvPr>
          <p:cNvSpPr>
            <a:spLocks noGrp="1"/>
          </p:cNvSpPr>
          <p:nvPr/>
        </p:nvSpPr>
        <p:spPr>
          <a:xfrm>
            <a:off x="638175" y="24955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Экраны</a:t>
            </a:r>
          </a:p>
        </p:txBody>
      </p:sp>
      <p:sp>
        <p:nvSpPr>
          <p:cNvPr id="9" name="Экраны описание">
            <a:extLst>
              <a:ext uri="{FF2B5EF4-FFF2-40B4-BE49-F238E27FC236}">
                <a16:creationId xmlns:a16="http://schemas.microsoft.com/office/drawing/2014/main" id="{E75B72CF-43C6-4E92-8DE5-37AB0934A055}"/>
              </a:ext>
            </a:extLst>
          </p:cNvPr>
          <p:cNvSpPr>
            <a:spLocks noGrp="1"/>
          </p:cNvSpPr>
          <p:nvPr/>
        </p:nvSpPr>
        <p:spPr>
          <a:xfrm>
            <a:off x="638175" y="2847975"/>
            <a:ext cx="5048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MapHomeView, MyRoutesView и демоверсия чатов</a:t>
            </a:r>
          </a:p>
        </p:txBody>
      </p:sp>
      <p:sp>
        <p:nvSpPr>
          <p:cNvPr id="10" name="Источник заголовок">
            <a:extLst>
              <a:ext uri="{FF2B5EF4-FFF2-40B4-BE49-F238E27FC236}">
                <a16:creationId xmlns:a16="http://schemas.microsoft.com/office/drawing/2014/main" id="{86678C00-4417-41C2-BDA2-388F6451D19D}"/>
              </a:ext>
            </a:extLst>
          </p:cNvPr>
          <p:cNvSpPr>
            <a:spLocks noGrp="1"/>
          </p:cNvSpPr>
          <p:nvPr/>
        </p:nvSpPr>
        <p:spPr>
          <a:xfrm>
            <a:off x="638175" y="366712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Источник</a:t>
            </a:r>
          </a:p>
        </p:txBody>
      </p:sp>
      <p:sp>
        <p:nvSpPr>
          <p:cNvPr id="11" name="Источник описание">
            <a:extLst>
              <a:ext uri="{FF2B5EF4-FFF2-40B4-BE49-F238E27FC236}">
                <a16:creationId xmlns:a16="http://schemas.microsoft.com/office/drawing/2014/main" id="{53BB32C9-C054-4B4F-AA75-38667E4A93E3}"/>
              </a:ext>
            </a:extLst>
          </p:cNvPr>
          <p:cNvSpPr>
            <a:spLocks noGrp="1"/>
          </p:cNvSpPr>
          <p:nvPr/>
        </p:nvSpPr>
        <p:spPr>
          <a:xfrm>
            <a:off x="638175" y="4019550"/>
            <a:ext cx="5048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DemoRoutesViewModel читает DemoRepository; хранение в SwiftData</a:t>
            </a:r>
          </a:p>
        </p:txBody>
      </p:sp>
      <p:sp>
        <p:nvSpPr>
          <p:cNvPr id="12" name="Первый запуск заголовок">
            <a:extLst>
              <a:ext uri="{FF2B5EF4-FFF2-40B4-BE49-F238E27FC236}">
                <a16:creationId xmlns:a16="http://schemas.microsoft.com/office/drawing/2014/main" id="{48AB6861-6AD4-4897-81D9-CC7B945B6219}"/>
              </a:ext>
            </a:extLst>
          </p:cNvPr>
          <p:cNvSpPr>
            <a:spLocks noGrp="1"/>
          </p:cNvSpPr>
          <p:nvPr/>
        </p:nvSpPr>
        <p:spPr>
          <a:xfrm>
            <a:off x="638175" y="483870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13" name="Первый запуск описание">
            <a:extLst>
              <a:ext uri="{FF2B5EF4-FFF2-40B4-BE49-F238E27FC236}">
                <a16:creationId xmlns:a16="http://schemas.microsoft.com/office/drawing/2014/main" id="{1155CCAA-F1BF-4411-A881-17F302FD52F9}"/>
              </a:ext>
            </a:extLst>
          </p:cNvPr>
          <p:cNvSpPr>
            <a:spLocks noGrp="1"/>
          </p:cNvSpPr>
          <p:nvPr/>
        </p:nvSpPr>
        <p:spPr>
          <a:xfrm>
            <a:off x="638175" y="5191125"/>
            <a:ext cx="5048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MockData заполняет локальную базу один раз</a:t>
            </a:r>
          </a:p>
        </p:txBody>
      </p:sp>
      <p:sp>
        <p:nvSpPr>
          <p:cNvPr id="14" name="Экраны  заголовок">
            <a:extLst>
              <a:ext uri="{FF2B5EF4-FFF2-40B4-BE49-F238E27FC236}">
                <a16:creationId xmlns:a16="http://schemas.microsoft.com/office/drawing/2014/main" id="{6CF3B380-5668-4548-B7C4-FB5CFFA0F7D9}"/>
              </a:ext>
            </a:extLst>
          </p:cNvPr>
          <p:cNvSpPr>
            <a:spLocks noGrp="1"/>
          </p:cNvSpPr>
          <p:nvPr/>
        </p:nvSpPr>
        <p:spPr>
          <a:xfrm>
            <a:off x="6477000" y="24955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Экраны </a:t>
            </a:r>
          </a:p>
        </p:txBody>
      </p:sp>
      <p:sp>
        <p:nvSpPr>
          <p:cNvPr id="15" name="Экраны  описание">
            <a:extLst>
              <a:ext uri="{FF2B5EF4-FFF2-40B4-BE49-F238E27FC236}">
                <a16:creationId xmlns:a16="http://schemas.microsoft.com/office/drawing/2014/main" id="{AFDA7DC8-D787-4ABD-BE59-FCD05896267E}"/>
              </a:ext>
            </a:extLst>
          </p:cNvPr>
          <p:cNvSpPr>
            <a:spLocks noGrp="1"/>
          </p:cNvSpPr>
          <p:nvPr/>
        </p:nvSpPr>
        <p:spPr>
          <a:xfrm>
            <a:off x="6477000" y="2847975"/>
            <a:ext cx="5048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ServerMapView, ServerMyRoutesView и серверные чаты</a:t>
            </a:r>
          </a:p>
        </p:txBody>
      </p:sp>
      <p:sp>
        <p:nvSpPr>
          <p:cNvPr id="16" name="Источник  заголовок">
            <a:extLst>
              <a:ext uri="{FF2B5EF4-FFF2-40B4-BE49-F238E27FC236}">
                <a16:creationId xmlns:a16="http://schemas.microsoft.com/office/drawing/2014/main" id="{661F138F-0D70-433C-8804-AF2BFCC5D645}"/>
              </a:ext>
            </a:extLst>
          </p:cNvPr>
          <p:cNvSpPr>
            <a:spLocks noGrp="1"/>
          </p:cNvSpPr>
          <p:nvPr/>
        </p:nvSpPr>
        <p:spPr>
          <a:xfrm>
            <a:off x="6477000" y="366712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Источник </a:t>
            </a:r>
          </a:p>
        </p:txBody>
      </p:sp>
      <p:sp>
        <p:nvSpPr>
          <p:cNvPr id="17" name="Источник  описание">
            <a:extLst>
              <a:ext uri="{FF2B5EF4-FFF2-40B4-BE49-F238E27FC236}">
                <a16:creationId xmlns:a16="http://schemas.microsoft.com/office/drawing/2014/main" id="{1FD6C818-FDBB-4CBE-8995-D922A8C6C983}"/>
              </a:ext>
            </a:extLst>
          </p:cNvPr>
          <p:cNvSpPr>
            <a:spLocks noGrp="1"/>
          </p:cNvSpPr>
          <p:nvPr/>
        </p:nvSpPr>
        <p:spPr>
          <a:xfrm>
            <a:off x="6477000" y="4019550"/>
            <a:ext cx="5048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ServerRoutesDataSource и RemoteChatsRepository работают через APIClient</a:t>
            </a:r>
          </a:p>
        </p:txBody>
      </p:sp>
      <p:sp>
        <p:nvSpPr>
          <p:cNvPr id="18" name="Обновления заголовок">
            <a:extLst>
              <a:ext uri="{FF2B5EF4-FFF2-40B4-BE49-F238E27FC236}">
                <a16:creationId xmlns:a16="http://schemas.microsoft.com/office/drawing/2014/main" id="{55C9D0C7-8F0E-453B-9228-A3098D85D251}"/>
              </a:ext>
            </a:extLst>
          </p:cNvPr>
          <p:cNvSpPr>
            <a:spLocks noGrp="1"/>
          </p:cNvSpPr>
          <p:nvPr/>
        </p:nvSpPr>
        <p:spPr>
          <a:xfrm>
            <a:off x="6477000" y="483870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Обновления</a:t>
            </a:r>
          </a:p>
        </p:txBody>
      </p:sp>
      <p:sp>
        <p:nvSpPr>
          <p:cNvPr id="19" name="Обновления описание">
            <a:extLst>
              <a:ext uri="{FF2B5EF4-FFF2-40B4-BE49-F238E27FC236}">
                <a16:creationId xmlns:a16="http://schemas.microsoft.com/office/drawing/2014/main" id="{C6C45E68-41F5-4861-BCC4-6396DC51FCFA}"/>
              </a:ext>
            </a:extLst>
          </p:cNvPr>
          <p:cNvSpPr>
            <a:spLocks noGrp="1"/>
          </p:cNvSpPr>
          <p:nvPr/>
        </p:nvSpPr>
        <p:spPr>
          <a:xfrm>
            <a:off x="6477000" y="5191125"/>
            <a:ext cx="5048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RealtimeClient доставляет события чатов и геопозиции</a:t>
            </a:r>
          </a:p>
        </p:txBody>
      </p:sp>
    </p:spTree>
    <p:extLst>
      <p:ext uri="{BB962C8B-B14F-4D97-AF65-F5344CB8AC3E}">
        <p14:creationId xmlns:p14="http://schemas.microsoft.com/office/powerpoint/2010/main" val="998829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">
            <a:extLst>
              <a:ext uri="{FF2B5EF4-FFF2-40B4-BE49-F238E27FC236}">
                <a16:creationId xmlns:a16="http://schemas.microsoft.com/office/drawing/2014/main" id="{AC3AEFED-A03F-4B07-AFD2-ACB69EEE288B}"/>
              </a:ext>
            </a:extLst>
          </p:cNvPr>
          <p:cNvSpPr>
            <a:spLocks noGrp="1"/>
          </p:cNvSpPr>
          <p:nvPr/>
        </p:nvSpPr>
        <p:spPr>
          <a:xfrm>
            <a:off x="638175" y="457200"/>
            <a:ext cx="109061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Сеть, GPS и события</a:t>
            </a:r>
          </a:p>
        </p:txBody>
      </p:sp>
      <p:sp>
        <p:nvSpPr>
          <p:cNvPr id="2" name="Подпись">
            <a:extLst>
              <a:ext uri="{FF2B5EF4-FFF2-40B4-BE49-F238E27FC236}">
                <a16:creationId xmlns:a16="http://schemas.microsoft.com/office/drawing/2014/main" id="{2BC7D911-4622-4DA8-AFEE-078BE806149E}"/>
              </a:ext>
            </a:extLst>
          </p:cNvPr>
          <p:cNvSpPr>
            <a:spLocks noGrp="1"/>
          </p:cNvSpPr>
          <p:nvPr/>
        </p:nvSpPr>
        <p:spPr>
          <a:xfrm>
            <a:off x="638175" y="633412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FB6"/>
                </a:solidFill>
                <a:latin typeface="Arial"/>
                <a:ea typeface="Arial"/>
                <a:cs typeface="Arial"/>
              </a:rPr>
              <a:t>Q U A D R O   F R I E N D S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C0167861-24CA-4DF8-B9F1-A9CD8383C1B8}"/>
              </a:ext>
            </a:extLst>
          </p:cNvPr>
          <p:cNvSpPr>
            <a:spLocks noGrp="1"/>
          </p:cNvSpPr>
          <p:nvPr/>
        </p:nvSpPr>
        <p:spPr>
          <a:xfrm>
            <a:off x="11087100" y="633412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AFB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Вступление">
            <a:extLst>
              <a:ext uri="{FF2B5EF4-FFF2-40B4-BE49-F238E27FC236}">
                <a16:creationId xmlns:a16="http://schemas.microsoft.com/office/drawing/2014/main" id="{58B36BCC-4930-4D26-8591-F5E01C0E39D8}"/>
              </a:ext>
            </a:extLst>
          </p:cNvPr>
          <p:cNvSpPr>
            <a:spLocks noGrp="1"/>
          </p:cNvSpPr>
          <p:nvPr/>
        </p:nvSpPr>
        <p:spPr>
          <a:xfrm>
            <a:off x="638175" y="1257300"/>
            <a:ext cx="1090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Основные потоки данных в аккаунтном режиме</a:t>
            </a:r>
          </a:p>
        </p:txBody>
      </p:sp>
      <p:sp>
        <p:nvSpPr>
          <p:cNvPr id="5" name="Поток 0">
            <a:extLst>
              <a:ext uri="{FF2B5EF4-FFF2-40B4-BE49-F238E27FC236}">
                <a16:creationId xmlns:a16="http://schemas.microsoft.com/office/drawing/2014/main" id="{D00F83DA-FC6C-4A9D-BF5E-031EC1ADE966}"/>
              </a:ext>
            </a:extLst>
          </p:cNvPr>
          <p:cNvSpPr>
            <a:spLocks noGrp="1"/>
          </p:cNvSpPr>
          <p:nvPr/>
        </p:nvSpPr>
        <p:spPr>
          <a:xfrm>
            <a:off x="638175" y="1866900"/>
            <a:ext cx="1762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Авторизация</a:t>
            </a:r>
          </a:p>
        </p:txBody>
      </p:sp>
      <p:sp>
        <p:nvSpPr>
          <p:cNvPr id="6" name="Цепочка 0">
            <a:extLst>
              <a:ext uri="{FF2B5EF4-FFF2-40B4-BE49-F238E27FC236}">
                <a16:creationId xmlns:a16="http://schemas.microsoft.com/office/drawing/2014/main" id="{1857BE22-E84C-42AE-A849-F34C2DCCCE48}"/>
              </a:ext>
            </a:extLst>
          </p:cNvPr>
          <p:cNvSpPr>
            <a:spLocks noGrp="1"/>
          </p:cNvSpPr>
          <p:nvPr/>
        </p:nvSpPr>
        <p:spPr>
          <a:xfrm>
            <a:off x="2552700" y="1866900"/>
            <a:ext cx="899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Email и пароль  →  APISession  →  Keychain</a:t>
            </a:r>
          </a:p>
        </p:txBody>
      </p:sp>
      <p:sp>
        <p:nvSpPr>
          <p:cNvPr id="7" name="Пояснение 0">
            <a:extLst>
              <a:ext uri="{FF2B5EF4-FFF2-40B4-BE49-F238E27FC236}">
                <a16:creationId xmlns:a16="http://schemas.microsoft.com/office/drawing/2014/main" id="{F5542FB5-A95A-4D35-9632-32B7DA9BD4A2}"/>
              </a:ext>
            </a:extLst>
          </p:cNvPr>
          <p:cNvSpPr>
            <a:spLocks noGrp="1"/>
          </p:cNvSpPr>
          <p:nvPr/>
        </p:nvSpPr>
        <p:spPr>
          <a:xfrm>
            <a:off x="2552700" y="2276475"/>
            <a:ext cx="8991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APIClient добавляет токен; после 401 один раз обновляет сессию.</a:t>
            </a:r>
          </a:p>
        </p:txBody>
      </p:sp>
      <p:sp>
        <p:nvSpPr>
          <p:cNvPr id="8" name="Разделитель потока 0">
            <a:extLst>
              <a:ext uri="{FF2B5EF4-FFF2-40B4-BE49-F238E27FC236}">
                <a16:creationId xmlns:a16="http://schemas.microsoft.com/office/drawing/2014/main" id="{DC27762F-2B8B-43AA-BE39-7E6EC5BE7158}"/>
              </a:ext>
            </a:extLst>
          </p:cNvPr>
          <p:cNvSpPr>
            <a:spLocks noGrp="1"/>
          </p:cNvSpPr>
          <p:nvPr/>
        </p:nvSpPr>
        <p:spPr>
          <a:xfrm>
            <a:off x="638175" y="2800350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9" name="Поток 1">
            <a:extLst>
              <a:ext uri="{FF2B5EF4-FFF2-40B4-BE49-F238E27FC236}">
                <a16:creationId xmlns:a16="http://schemas.microsoft.com/office/drawing/2014/main" id="{A894D7B1-A377-4D9C-8AB8-C95913E9892C}"/>
              </a:ext>
            </a:extLst>
          </p:cNvPr>
          <p:cNvSpPr>
            <a:spLocks noGrp="1"/>
          </p:cNvSpPr>
          <p:nvPr/>
        </p:nvSpPr>
        <p:spPr>
          <a:xfrm>
            <a:off x="638175" y="2895600"/>
            <a:ext cx="1762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Маршруты</a:t>
            </a:r>
          </a:p>
        </p:txBody>
      </p:sp>
      <p:sp>
        <p:nvSpPr>
          <p:cNvPr id="10" name="Цепочка 1">
            <a:extLst>
              <a:ext uri="{FF2B5EF4-FFF2-40B4-BE49-F238E27FC236}">
                <a16:creationId xmlns:a16="http://schemas.microsoft.com/office/drawing/2014/main" id="{6EB9B8F5-A980-4F51-B268-7B5256AB23D7}"/>
              </a:ext>
            </a:extLst>
          </p:cNvPr>
          <p:cNvSpPr>
            <a:spLocks noGrp="1"/>
          </p:cNvSpPr>
          <p:nvPr/>
        </p:nvSpPr>
        <p:spPr>
          <a:xfrm>
            <a:off x="2552700" y="2895600"/>
            <a:ext cx="899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Экран  →  ViewModel  →  DataSource  →  APIClient  →  REST</a:t>
            </a:r>
          </a:p>
        </p:txBody>
      </p:sp>
      <p:sp>
        <p:nvSpPr>
          <p:cNvPr id="11" name="Пояснение 1">
            <a:extLst>
              <a:ext uri="{FF2B5EF4-FFF2-40B4-BE49-F238E27FC236}">
                <a16:creationId xmlns:a16="http://schemas.microsoft.com/office/drawing/2014/main" id="{C1B2AAFA-10D8-4D1A-AC7D-1DE4294A4002}"/>
              </a:ext>
            </a:extLst>
          </p:cNvPr>
          <p:cNvSpPr>
            <a:spLocks noGrp="1"/>
          </p:cNvSpPr>
          <p:nvPr/>
        </p:nvSpPr>
        <p:spPr>
          <a:xfrm>
            <a:off x="2552700" y="3305175"/>
            <a:ext cx="8991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Карта и детали получают список и геометрию. Запись отправляет GPS-точки партиями.</a:t>
            </a:r>
          </a:p>
        </p:txBody>
      </p:sp>
      <p:sp>
        <p:nvSpPr>
          <p:cNvPr id="12" name="Разделитель потока 1">
            <a:extLst>
              <a:ext uri="{FF2B5EF4-FFF2-40B4-BE49-F238E27FC236}">
                <a16:creationId xmlns:a16="http://schemas.microsoft.com/office/drawing/2014/main" id="{D63034FD-33DB-4744-AC06-150899B306EE}"/>
              </a:ext>
            </a:extLst>
          </p:cNvPr>
          <p:cNvSpPr>
            <a:spLocks noGrp="1"/>
          </p:cNvSpPr>
          <p:nvPr/>
        </p:nvSpPr>
        <p:spPr>
          <a:xfrm>
            <a:off x="638175" y="3829050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3" name="Поток 2">
            <a:extLst>
              <a:ext uri="{FF2B5EF4-FFF2-40B4-BE49-F238E27FC236}">
                <a16:creationId xmlns:a16="http://schemas.microsoft.com/office/drawing/2014/main" id="{D8FA50CE-6A6B-43B6-88AF-323192183188}"/>
              </a:ext>
            </a:extLst>
          </p:cNvPr>
          <p:cNvSpPr>
            <a:spLocks noGrp="1"/>
          </p:cNvSpPr>
          <p:nvPr/>
        </p:nvSpPr>
        <p:spPr>
          <a:xfrm>
            <a:off x="638175" y="3924300"/>
            <a:ext cx="1762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Чаты</a:t>
            </a:r>
          </a:p>
        </p:txBody>
      </p:sp>
      <p:sp>
        <p:nvSpPr>
          <p:cNvPr id="14" name="Цепочка 2">
            <a:extLst>
              <a:ext uri="{FF2B5EF4-FFF2-40B4-BE49-F238E27FC236}">
                <a16:creationId xmlns:a16="http://schemas.microsoft.com/office/drawing/2014/main" id="{8CED27E5-DC37-4C8C-B8FC-B35C0D844631}"/>
              </a:ext>
            </a:extLst>
          </p:cNvPr>
          <p:cNvSpPr>
            <a:spLocks noGrp="1"/>
          </p:cNvSpPr>
          <p:nvPr/>
        </p:nvSpPr>
        <p:spPr>
          <a:xfrm>
            <a:off x="2552700" y="3924300"/>
            <a:ext cx="899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UIKit  →  ViewModel  →  ChatsRepository  →  REST + WebSocket</a:t>
            </a:r>
          </a:p>
        </p:txBody>
      </p:sp>
      <p:sp>
        <p:nvSpPr>
          <p:cNvPr id="15" name="Пояснение 2">
            <a:extLst>
              <a:ext uri="{FF2B5EF4-FFF2-40B4-BE49-F238E27FC236}">
                <a16:creationId xmlns:a16="http://schemas.microsoft.com/office/drawing/2014/main" id="{82EDF30C-AD03-4619-8F8A-8ED975E827BE}"/>
              </a:ext>
            </a:extLst>
          </p:cNvPr>
          <p:cNvSpPr>
            <a:spLocks noGrp="1"/>
          </p:cNvSpPr>
          <p:nvPr/>
        </p:nvSpPr>
        <p:spPr>
          <a:xfrm>
            <a:off x="2552700" y="4333875"/>
            <a:ext cx="8991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RealtimeClient сообщает об изменениях; после переподключения экран перечитывает REST.</a:t>
            </a:r>
          </a:p>
        </p:txBody>
      </p:sp>
      <p:sp>
        <p:nvSpPr>
          <p:cNvPr id="16" name="Разделитель потока 2">
            <a:extLst>
              <a:ext uri="{FF2B5EF4-FFF2-40B4-BE49-F238E27FC236}">
                <a16:creationId xmlns:a16="http://schemas.microsoft.com/office/drawing/2014/main" id="{72D75C70-A987-4A88-8160-F87BA9C1FB7A}"/>
              </a:ext>
            </a:extLst>
          </p:cNvPr>
          <p:cNvSpPr>
            <a:spLocks noGrp="1"/>
          </p:cNvSpPr>
          <p:nvPr/>
        </p:nvSpPr>
        <p:spPr>
          <a:xfrm>
            <a:off x="638175" y="4857750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7" name="Поток 3">
            <a:extLst>
              <a:ext uri="{FF2B5EF4-FFF2-40B4-BE49-F238E27FC236}">
                <a16:creationId xmlns:a16="http://schemas.microsoft.com/office/drawing/2014/main" id="{AF7642A9-ABD7-4BA6-9994-5F9686299C97}"/>
              </a:ext>
            </a:extLst>
          </p:cNvPr>
          <p:cNvSpPr>
            <a:spLocks noGrp="1"/>
          </p:cNvSpPr>
          <p:nvPr/>
        </p:nvSpPr>
        <p:spPr>
          <a:xfrm>
            <a:off x="638175" y="4953000"/>
            <a:ext cx="1762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Геопозиция</a:t>
            </a:r>
          </a:p>
        </p:txBody>
      </p:sp>
      <p:sp>
        <p:nvSpPr>
          <p:cNvPr id="18" name="Цепочка 3">
            <a:extLst>
              <a:ext uri="{FF2B5EF4-FFF2-40B4-BE49-F238E27FC236}">
                <a16:creationId xmlns:a16="http://schemas.microsoft.com/office/drawing/2014/main" id="{5DBC0133-8B16-40F1-B232-FB37BCF23DA6}"/>
              </a:ext>
            </a:extLst>
          </p:cNvPr>
          <p:cNvSpPr>
            <a:spLocks noGrp="1"/>
          </p:cNvSpPr>
          <p:nvPr/>
        </p:nvSpPr>
        <p:spPr>
          <a:xfrm>
            <a:off x="2552700" y="4953000"/>
            <a:ext cx="899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CoreLocation  →  ChatLocationSharingStore  →  API</a:t>
            </a:r>
          </a:p>
        </p:txBody>
      </p:sp>
      <p:sp>
        <p:nvSpPr>
          <p:cNvPr id="19" name="Пояснение 3">
            <a:extLst>
              <a:ext uri="{FF2B5EF4-FFF2-40B4-BE49-F238E27FC236}">
                <a16:creationId xmlns:a16="http://schemas.microsoft.com/office/drawing/2014/main" id="{E89CC5BC-F0C3-4499-B59E-55077425BB00}"/>
              </a:ext>
            </a:extLst>
          </p:cNvPr>
          <p:cNvSpPr>
            <a:spLocks noGrp="1"/>
          </p:cNvSpPr>
          <p:nvPr/>
        </p:nvSpPr>
        <p:spPr>
          <a:xfrm>
            <a:off x="2552700" y="5362575"/>
            <a:ext cx="8991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Передача запускается после согласия, действует час и видна участникам чата.</a:t>
            </a:r>
          </a:p>
        </p:txBody>
      </p:sp>
      <p:sp>
        <p:nvSpPr>
          <p:cNvPr id="20" name="Разделитель потока 3">
            <a:extLst>
              <a:ext uri="{FF2B5EF4-FFF2-40B4-BE49-F238E27FC236}">
                <a16:creationId xmlns:a16="http://schemas.microsoft.com/office/drawing/2014/main" id="{D8AC32F6-B089-4E26-877A-E56A1D2B7A43}"/>
              </a:ext>
            </a:extLst>
          </p:cNvPr>
          <p:cNvSpPr>
            <a:spLocks noGrp="1"/>
          </p:cNvSpPr>
          <p:nvPr/>
        </p:nvSpPr>
        <p:spPr>
          <a:xfrm>
            <a:off x="638175" y="5886450"/>
            <a:ext cx="10906125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0946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">
            <a:extLst>
              <a:ext uri="{FF2B5EF4-FFF2-40B4-BE49-F238E27FC236}">
                <a16:creationId xmlns:a16="http://schemas.microsoft.com/office/drawing/2014/main" id="{4D5F0011-B238-4C2B-8BFA-277FE73CC26A}"/>
              </a:ext>
            </a:extLst>
          </p:cNvPr>
          <p:cNvSpPr>
            <a:spLocks noGrp="1"/>
          </p:cNvSpPr>
          <p:nvPr/>
        </p:nvSpPr>
        <p:spPr>
          <a:xfrm>
            <a:off x="638175" y="457200"/>
            <a:ext cx="10906125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000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1E2226"/>
                </a:solidFill>
                <a:latin typeface="Arial"/>
                <a:ea typeface="Arial"/>
                <a:cs typeface="Arial"/>
              </a:rPr>
              <a:t>Стек</a:t>
            </a:r>
            <a:r>
              <a:rPr sz="3000" b="1" dirty="0">
                <a:solidFill>
                  <a:srgbClr val="1E2226"/>
                </a:solidFill>
                <a:latin typeface="Arial"/>
                <a:ea typeface="Arial"/>
                <a:cs typeface="Arial"/>
              </a:rPr>
              <a:t> iOS-</a:t>
            </a:r>
            <a:r>
              <a:rPr sz="3000" b="1" dirty="0" err="1">
                <a:solidFill>
                  <a:srgbClr val="1E2226"/>
                </a:solidFill>
                <a:latin typeface="Arial"/>
                <a:ea typeface="Arial"/>
                <a:cs typeface="Arial"/>
              </a:rPr>
              <a:t>клиента</a:t>
            </a:r>
            <a:endParaRPr sz="3000" b="1" dirty="0">
              <a:solidFill>
                <a:srgbClr val="1E22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Подпись">
            <a:extLst>
              <a:ext uri="{FF2B5EF4-FFF2-40B4-BE49-F238E27FC236}">
                <a16:creationId xmlns:a16="http://schemas.microsoft.com/office/drawing/2014/main" id="{5A101813-813D-4DD5-AF73-2741E7D93906}"/>
              </a:ext>
            </a:extLst>
          </p:cNvPr>
          <p:cNvSpPr>
            <a:spLocks noGrp="1"/>
          </p:cNvSpPr>
          <p:nvPr/>
        </p:nvSpPr>
        <p:spPr>
          <a:xfrm>
            <a:off x="638175" y="6334125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1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AFB6"/>
                </a:solidFill>
                <a:latin typeface="Arial"/>
                <a:ea typeface="Arial"/>
                <a:cs typeface="Arial"/>
              </a:rPr>
              <a:t>Q U A D R O   F R I E N D S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E3F75889-2400-41D3-A64E-1D32D35A0306}"/>
              </a:ext>
            </a:extLst>
          </p:cNvPr>
          <p:cNvSpPr>
            <a:spLocks noGrp="1"/>
          </p:cNvSpPr>
          <p:nvPr/>
        </p:nvSpPr>
        <p:spPr>
          <a:xfrm>
            <a:off x="11087100" y="6334125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75" b="0">
                <a:solidFill>
                  <a:srgbClr val="A9AF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9AFB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Платформа">
            <a:extLst>
              <a:ext uri="{FF2B5EF4-FFF2-40B4-BE49-F238E27FC236}">
                <a16:creationId xmlns:a16="http://schemas.microsoft.com/office/drawing/2014/main" id="{78DCAB70-D56B-4B19-890A-B66DA433C113}"/>
              </a:ext>
            </a:extLst>
          </p:cNvPr>
          <p:cNvSpPr>
            <a:spLocks noGrp="1"/>
          </p:cNvSpPr>
          <p:nvPr/>
        </p:nvSpPr>
        <p:spPr>
          <a:xfrm>
            <a:off x="638175" y="1257300"/>
            <a:ext cx="1090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506A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06A36"/>
                </a:solidFill>
                <a:latin typeface="Arial"/>
                <a:ea typeface="Arial"/>
                <a:cs typeface="Arial"/>
              </a:rPr>
              <a:t>Swift · iOS 26.2</a:t>
            </a:r>
          </a:p>
        </p:txBody>
      </p:sp>
      <p:sp>
        <p:nvSpPr>
          <p:cNvPr id="5" name="Технология 67 0">
            <a:extLst>
              <a:ext uri="{FF2B5EF4-FFF2-40B4-BE49-F238E27FC236}">
                <a16:creationId xmlns:a16="http://schemas.microsoft.com/office/drawing/2014/main" id="{7B64F1F6-3C32-4421-A515-70FBCC928438}"/>
              </a:ext>
            </a:extLst>
          </p:cNvPr>
          <p:cNvSpPr>
            <a:spLocks noGrp="1"/>
          </p:cNvSpPr>
          <p:nvPr/>
        </p:nvSpPr>
        <p:spPr>
          <a:xfrm>
            <a:off x="638175" y="214312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SwiftUI</a:t>
            </a:r>
          </a:p>
        </p:txBody>
      </p:sp>
      <p:sp>
        <p:nvSpPr>
          <p:cNvPr id="6" name="Назначение 67 0">
            <a:extLst>
              <a:ext uri="{FF2B5EF4-FFF2-40B4-BE49-F238E27FC236}">
                <a16:creationId xmlns:a16="http://schemas.microsoft.com/office/drawing/2014/main" id="{E1D05B9E-3941-4FF0-938E-5A8DA3344784}"/>
              </a:ext>
            </a:extLst>
          </p:cNvPr>
          <p:cNvSpPr>
            <a:spLocks noGrp="1"/>
          </p:cNvSpPr>
          <p:nvPr/>
        </p:nvSpPr>
        <p:spPr>
          <a:xfrm>
            <a:off x="2905125" y="21431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Основные экраны и TabView</a:t>
            </a:r>
          </a:p>
        </p:txBody>
      </p:sp>
      <p:sp>
        <p:nvSpPr>
          <p:cNvPr id="7" name="Линия технологии 67 0">
            <a:extLst>
              <a:ext uri="{FF2B5EF4-FFF2-40B4-BE49-F238E27FC236}">
                <a16:creationId xmlns:a16="http://schemas.microsoft.com/office/drawing/2014/main" id="{DFC74CE0-FD95-4668-8D3B-3E050776DD18}"/>
              </a:ext>
            </a:extLst>
          </p:cNvPr>
          <p:cNvSpPr>
            <a:spLocks noGrp="1"/>
          </p:cNvSpPr>
          <p:nvPr/>
        </p:nvSpPr>
        <p:spPr>
          <a:xfrm>
            <a:off x="638175" y="2867025"/>
            <a:ext cx="5276850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8" name="Технология 67 1">
            <a:extLst>
              <a:ext uri="{FF2B5EF4-FFF2-40B4-BE49-F238E27FC236}">
                <a16:creationId xmlns:a16="http://schemas.microsoft.com/office/drawing/2014/main" id="{414F2598-A72D-4A1F-B585-CA9D388C138F}"/>
              </a:ext>
            </a:extLst>
          </p:cNvPr>
          <p:cNvSpPr>
            <a:spLocks noGrp="1"/>
          </p:cNvSpPr>
          <p:nvPr/>
        </p:nvSpPr>
        <p:spPr>
          <a:xfrm>
            <a:off x="638175" y="301942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UIKit</a:t>
            </a:r>
          </a:p>
        </p:txBody>
      </p:sp>
      <p:sp>
        <p:nvSpPr>
          <p:cNvPr id="9" name="Назначение 67 1">
            <a:extLst>
              <a:ext uri="{FF2B5EF4-FFF2-40B4-BE49-F238E27FC236}">
                <a16:creationId xmlns:a16="http://schemas.microsoft.com/office/drawing/2014/main" id="{99F8591C-3A3F-4FE6-9107-F147C01B6CC8}"/>
              </a:ext>
            </a:extLst>
          </p:cNvPr>
          <p:cNvSpPr>
            <a:spLocks noGrp="1"/>
          </p:cNvSpPr>
          <p:nvPr/>
        </p:nvSpPr>
        <p:spPr>
          <a:xfrm>
            <a:off x="2905125" y="30194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UICollectionView и diffable data source в чатах</a:t>
            </a:r>
          </a:p>
        </p:txBody>
      </p:sp>
      <p:sp>
        <p:nvSpPr>
          <p:cNvPr id="10" name="Линия технологии 67 1">
            <a:extLst>
              <a:ext uri="{FF2B5EF4-FFF2-40B4-BE49-F238E27FC236}">
                <a16:creationId xmlns:a16="http://schemas.microsoft.com/office/drawing/2014/main" id="{027305FE-1066-4C55-AC00-CECF2A7FBC58}"/>
              </a:ext>
            </a:extLst>
          </p:cNvPr>
          <p:cNvSpPr>
            <a:spLocks noGrp="1"/>
          </p:cNvSpPr>
          <p:nvPr/>
        </p:nvSpPr>
        <p:spPr>
          <a:xfrm>
            <a:off x="638175" y="3743325"/>
            <a:ext cx="5276850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1" name="Технология 67 2">
            <a:extLst>
              <a:ext uri="{FF2B5EF4-FFF2-40B4-BE49-F238E27FC236}">
                <a16:creationId xmlns:a16="http://schemas.microsoft.com/office/drawing/2014/main" id="{A9255933-8DDA-4E7C-94FB-C9DDF21BCF94}"/>
              </a:ext>
            </a:extLst>
          </p:cNvPr>
          <p:cNvSpPr>
            <a:spLocks noGrp="1"/>
          </p:cNvSpPr>
          <p:nvPr/>
        </p:nvSpPr>
        <p:spPr>
          <a:xfrm>
            <a:off x="638175" y="389572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MapKit</a:t>
            </a:r>
          </a:p>
        </p:txBody>
      </p:sp>
      <p:sp>
        <p:nvSpPr>
          <p:cNvPr id="12" name="Назначение 67 2">
            <a:extLst>
              <a:ext uri="{FF2B5EF4-FFF2-40B4-BE49-F238E27FC236}">
                <a16:creationId xmlns:a16="http://schemas.microsoft.com/office/drawing/2014/main" id="{189641E4-4EDC-424A-9B52-61AC25C43802}"/>
              </a:ext>
            </a:extLst>
          </p:cNvPr>
          <p:cNvSpPr>
            <a:spLocks noGrp="1"/>
          </p:cNvSpPr>
          <p:nvPr/>
        </p:nvSpPr>
        <p:spPr>
          <a:xfrm>
            <a:off x="2905125" y="38957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Карта и линии маршрутов</a:t>
            </a:r>
          </a:p>
        </p:txBody>
      </p:sp>
      <p:sp>
        <p:nvSpPr>
          <p:cNvPr id="13" name="Линия технологии 67 2">
            <a:extLst>
              <a:ext uri="{FF2B5EF4-FFF2-40B4-BE49-F238E27FC236}">
                <a16:creationId xmlns:a16="http://schemas.microsoft.com/office/drawing/2014/main" id="{120158E3-1F4C-4700-8230-4E252835E598}"/>
              </a:ext>
            </a:extLst>
          </p:cNvPr>
          <p:cNvSpPr>
            <a:spLocks noGrp="1"/>
          </p:cNvSpPr>
          <p:nvPr/>
        </p:nvSpPr>
        <p:spPr>
          <a:xfrm>
            <a:off x="638175" y="4619625"/>
            <a:ext cx="5276850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4" name="Технология 67 3">
            <a:extLst>
              <a:ext uri="{FF2B5EF4-FFF2-40B4-BE49-F238E27FC236}">
                <a16:creationId xmlns:a16="http://schemas.microsoft.com/office/drawing/2014/main" id="{0FF3149F-4CDC-4017-8161-E79927C01AC0}"/>
              </a:ext>
            </a:extLst>
          </p:cNvPr>
          <p:cNvSpPr>
            <a:spLocks noGrp="1"/>
          </p:cNvSpPr>
          <p:nvPr/>
        </p:nvSpPr>
        <p:spPr>
          <a:xfrm>
            <a:off x="638175" y="477202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CoreLocation</a:t>
            </a:r>
          </a:p>
        </p:txBody>
      </p:sp>
      <p:sp>
        <p:nvSpPr>
          <p:cNvPr id="15" name="Назначение 67 3">
            <a:extLst>
              <a:ext uri="{FF2B5EF4-FFF2-40B4-BE49-F238E27FC236}">
                <a16:creationId xmlns:a16="http://schemas.microsoft.com/office/drawing/2014/main" id="{1468BF46-1DA6-44EF-A22B-C0EDBD39F825}"/>
              </a:ext>
            </a:extLst>
          </p:cNvPr>
          <p:cNvSpPr>
            <a:spLocks noGrp="1"/>
          </p:cNvSpPr>
          <p:nvPr/>
        </p:nvSpPr>
        <p:spPr>
          <a:xfrm>
            <a:off x="2905125" y="47720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GPS-трек и временная геопозиция</a:t>
            </a:r>
          </a:p>
        </p:txBody>
      </p:sp>
      <p:sp>
        <p:nvSpPr>
          <p:cNvPr id="16" name="Линия технологии 67 3">
            <a:extLst>
              <a:ext uri="{FF2B5EF4-FFF2-40B4-BE49-F238E27FC236}">
                <a16:creationId xmlns:a16="http://schemas.microsoft.com/office/drawing/2014/main" id="{2796F4F7-9282-463B-9F56-67A6C6B25238}"/>
              </a:ext>
            </a:extLst>
          </p:cNvPr>
          <p:cNvSpPr>
            <a:spLocks noGrp="1"/>
          </p:cNvSpPr>
          <p:nvPr/>
        </p:nvSpPr>
        <p:spPr>
          <a:xfrm>
            <a:off x="638175" y="5495925"/>
            <a:ext cx="5276850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17" name="Технология 655 0">
            <a:extLst>
              <a:ext uri="{FF2B5EF4-FFF2-40B4-BE49-F238E27FC236}">
                <a16:creationId xmlns:a16="http://schemas.microsoft.com/office/drawing/2014/main" id="{A4308DFB-B381-49DE-8AC6-857B804FF558}"/>
              </a:ext>
            </a:extLst>
          </p:cNvPr>
          <p:cNvSpPr>
            <a:spLocks noGrp="1"/>
          </p:cNvSpPr>
          <p:nvPr/>
        </p:nvSpPr>
        <p:spPr>
          <a:xfrm>
            <a:off x="6238875" y="214312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SwiftData</a:t>
            </a:r>
          </a:p>
        </p:txBody>
      </p:sp>
      <p:sp>
        <p:nvSpPr>
          <p:cNvPr id="18" name="Назначение 655 0">
            <a:extLst>
              <a:ext uri="{FF2B5EF4-FFF2-40B4-BE49-F238E27FC236}">
                <a16:creationId xmlns:a16="http://schemas.microsoft.com/office/drawing/2014/main" id="{F87A4185-11DD-4DED-A396-13D360196002}"/>
              </a:ext>
            </a:extLst>
          </p:cNvPr>
          <p:cNvSpPr>
            <a:spLocks noGrp="1"/>
          </p:cNvSpPr>
          <p:nvPr/>
        </p:nvSpPr>
        <p:spPr>
          <a:xfrm>
            <a:off x="8505825" y="21431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Локальные демоданные</a:t>
            </a:r>
          </a:p>
        </p:txBody>
      </p:sp>
      <p:sp>
        <p:nvSpPr>
          <p:cNvPr id="19" name="Линия технологии 655 0">
            <a:extLst>
              <a:ext uri="{FF2B5EF4-FFF2-40B4-BE49-F238E27FC236}">
                <a16:creationId xmlns:a16="http://schemas.microsoft.com/office/drawing/2014/main" id="{85D14F79-3595-498B-BE3F-6396FB885202}"/>
              </a:ext>
            </a:extLst>
          </p:cNvPr>
          <p:cNvSpPr>
            <a:spLocks noGrp="1"/>
          </p:cNvSpPr>
          <p:nvPr/>
        </p:nvSpPr>
        <p:spPr>
          <a:xfrm>
            <a:off x="6238875" y="2867025"/>
            <a:ext cx="5276850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20" name="Технология 655 1">
            <a:extLst>
              <a:ext uri="{FF2B5EF4-FFF2-40B4-BE49-F238E27FC236}">
                <a16:creationId xmlns:a16="http://schemas.microsoft.com/office/drawing/2014/main" id="{1090D954-70F9-4231-ACB5-F02C0FD759D5}"/>
              </a:ext>
            </a:extLst>
          </p:cNvPr>
          <p:cNvSpPr>
            <a:spLocks noGrp="1"/>
          </p:cNvSpPr>
          <p:nvPr/>
        </p:nvSpPr>
        <p:spPr>
          <a:xfrm>
            <a:off x="6238875" y="301942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URLSession</a:t>
            </a:r>
          </a:p>
        </p:txBody>
      </p:sp>
      <p:sp>
        <p:nvSpPr>
          <p:cNvPr id="21" name="Назначение 655 1">
            <a:extLst>
              <a:ext uri="{FF2B5EF4-FFF2-40B4-BE49-F238E27FC236}">
                <a16:creationId xmlns:a16="http://schemas.microsoft.com/office/drawing/2014/main" id="{C893F752-AFE5-49A2-82E3-B3578C098E98}"/>
              </a:ext>
            </a:extLst>
          </p:cNvPr>
          <p:cNvSpPr>
            <a:spLocks noGrp="1"/>
          </p:cNvSpPr>
          <p:nvPr/>
        </p:nvSpPr>
        <p:spPr>
          <a:xfrm>
            <a:off x="8505825" y="30194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REST и WebSocket</a:t>
            </a:r>
          </a:p>
        </p:txBody>
      </p:sp>
      <p:sp>
        <p:nvSpPr>
          <p:cNvPr id="22" name="Линия технологии 655 1">
            <a:extLst>
              <a:ext uri="{FF2B5EF4-FFF2-40B4-BE49-F238E27FC236}">
                <a16:creationId xmlns:a16="http://schemas.microsoft.com/office/drawing/2014/main" id="{055D82E4-F372-4E1E-BADF-B8E34A8674A0}"/>
              </a:ext>
            </a:extLst>
          </p:cNvPr>
          <p:cNvSpPr>
            <a:spLocks noGrp="1"/>
          </p:cNvSpPr>
          <p:nvPr/>
        </p:nvSpPr>
        <p:spPr>
          <a:xfrm>
            <a:off x="6238875" y="3743325"/>
            <a:ext cx="5276850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23" name="Технология 655 2">
            <a:extLst>
              <a:ext uri="{FF2B5EF4-FFF2-40B4-BE49-F238E27FC236}">
                <a16:creationId xmlns:a16="http://schemas.microsoft.com/office/drawing/2014/main" id="{BAF5D5CE-BE94-4167-BB4C-E0EBB49F6717}"/>
              </a:ext>
            </a:extLst>
          </p:cNvPr>
          <p:cNvSpPr>
            <a:spLocks noGrp="1"/>
          </p:cNvSpPr>
          <p:nvPr/>
        </p:nvSpPr>
        <p:spPr>
          <a:xfrm>
            <a:off x="6238875" y="389572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Combine</a:t>
            </a:r>
          </a:p>
        </p:txBody>
      </p:sp>
      <p:sp>
        <p:nvSpPr>
          <p:cNvPr id="24" name="Назначение 655 2">
            <a:extLst>
              <a:ext uri="{FF2B5EF4-FFF2-40B4-BE49-F238E27FC236}">
                <a16:creationId xmlns:a16="http://schemas.microsoft.com/office/drawing/2014/main" id="{9CBD4BEE-7855-4D72-9ABE-4615A91328D4}"/>
              </a:ext>
            </a:extLst>
          </p:cNvPr>
          <p:cNvSpPr>
            <a:spLocks noGrp="1"/>
          </p:cNvSpPr>
          <p:nvPr/>
        </p:nvSpPr>
        <p:spPr>
          <a:xfrm>
            <a:off x="8505825" y="38957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События</a:t>
            </a:r>
            <a:r>
              <a:rPr sz="1388" b="0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; async/await </a:t>
            </a:r>
            <a:r>
              <a:rPr sz="1388" b="0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для</a:t>
            </a:r>
            <a:r>
              <a:rPr sz="1388" b="0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</a:t>
            </a:r>
            <a:r>
              <a:rPr sz="1388" b="0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запросов</a:t>
            </a:r>
            <a:endParaRPr sz="1388" b="0" dirty="0">
              <a:solidFill>
                <a:srgbClr val="5F66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Линия технологии 655 2">
            <a:extLst>
              <a:ext uri="{FF2B5EF4-FFF2-40B4-BE49-F238E27FC236}">
                <a16:creationId xmlns:a16="http://schemas.microsoft.com/office/drawing/2014/main" id="{0D637ACD-14F5-4B0F-BDA5-E445A259CB16}"/>
              </a:ext>
            </a:extLst>
          </p:cNvPr>
          <p:cNvSpPr>
            <a:spLocks noGrp="1"/>
          </p:cNvSpPr>
          <p:nvPr/>
        </p:nvSpPr>
        <p:spPr>
          <a:xfrm>
            <a:off x="6238875" y="4619625"/>
            <a:ext cx="5276850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  <p:sp>
        <p:nvSpPr>
          <p:cNvPr id="26" name="Технология 655 3">
            <a:extLst>
              <a:ext uri="{FF2B5EF4-FFF2-40B4-BE49-F238E27FC236}">
                <a16:creationId xmlns:a16="http://schemas.microsoft.com/office/drawing/2014/main" id="{F71B1F4A-AB81-41F7-8313-2E381C3C8BE7}"/>
              </a:ext>
            </a:extLst>
          </p:cNvPr>
          <p:cNvSpPr>
            <a:spLocks noGrp="1"/>
          </p:cNvSpPr>
          <p:nvPr/>
        </p:nvSpPr>
        <p:spPr>
          <a:xfrm>
            <a:off x="6238875" y="477202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1E22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226"/>
                </a:solidFill>
                <a:latin typeface="Arial"/>
                <a:ea typeface="Arial"/>
                <a:cs typeface="Arial"/>
              </a:rPr>
              <a:t>Keychain</a:t>
            </a:r>
          </a:p>
        </p:txBody>
      </p:sp>
      <p:sp>
        <p:nvSpPr>
          <p:cNvPr id="27" name="Назначение 655 3">
            <a:extLst>
              <a:ext uri="{FF2B5EF4-FFF2-40B4-BE49-F238E27FC236}">
                <a16:creationId xmlns:a16="http://schemas.microsoft.com/office/drawing/2014/main" id="{77BE01B8-CB8B-4221-A19A-BDDCA42F330A}"/>
              </a:ext>
            </a:extLst>
          </p:cNvPr>
          <p:cNvSpPr>
            <a:spLocks noGrp="1"/>
          </p:cNvSpPr>
          <p:nvPr/>
        </p:nvSpPr>
        <p:spPr>
          <a:xfrm>
            <a:off x="8505825" y="47720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88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Токены аккаунта</a:t>
            </a:r>
          </a:p>
        </p:txBody>
      </p:sp>
      <p:sp>
        <p:nvSpPr>
          <p:cNvPr id="28" name="Линия технологии 655 3">
            <a:extLst>
              <a:ext uri="{FF2B5EF4-FFF2-40B4-BE49-F238E27FC236}">
                <a16:creationId xmlns:a16="http://schemas.microsoft.com/office/drawing/2014/main" id="{AC19F473-37CC-4863-A61A-6FE6468A2D56}"/>
              </a:ext>
            </a:extLst>
          </p:cNvPr>
          <p:cNvSpPr>
            <a:spLocks noGrp="1"/>
          </p:cNvSpPr>
          <p:nvPr/>
        </p:nvSpPr>
        <p:spPr>
          <a:xfrm>
            <a:off x="6238875" y="5495925"/>
            <a:ext cx="5276850" cy="12383"/>
          </a:xfrm>
          <a:prstGeom prst="rect">
            <a:avLst/>
          </a:prstGeom>
          <a:solidFill>
            <a:srgbClr val="D9DEE2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3116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C86826-5F15-4AB2-A7A8-62309E906BA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chemeClr val="tx1"/>
                </a:solidFill>
              </a:rPr>
              <a:t>Особенности разработки</a:t>
            </a:r>
            <a:endParaRPr sz="3000"/>
          </a:p>
        </p:txBody>
      </p:sp>
      <p:sp>
        <p:nvSpPr>
          <p:cNvPr id="3" name="Карточка: SwiftUI и UIKit">
            <a:extLst>
              <a:ext uri="{FF2B5EF4-FFF2-40B4-BE49-F238E27FC236}">
                <a16:creationId xmlns:a16="http://schemas.microsoft.com/office/drawing/2014/main" id="{5833F27E-D4D6-4410-864C-20676776C273}"/>
              </a:ext>
            </a:extLst>
          </p:cNvPr>
          <p:cNvSpPr>
            <a:spLocks noGrp="1"/>
          </p:cNvSpPr>
          <p:nvPr/>
        </p:nvSpPr>
        <p:spPr>
          <a:xfrm>
            <a:off x="640080" y="1554480"/>
            <a:ext cx="3456432" cy="2103120"/>
          </a:xfrm>
          <a:prstGeom prst="rect">
            <a:avLst/>
          </a:prstGeom>
          <a:solidFill>
            <a:schemeClr val="bg2"/>
          </a:solidFill>
        </p:spPr>
      </p:sp>
      <p:sp>
        <p:nvSpPr>
          <p:cNvPr id="4" name="Номер: SwiftUI и UIKit">
            <a:extLst>
              <a:ext uri="{FF2B5EF4-FFF2-40B4-BE49-F238E27FC236}">
                <a16:creationId xmlns:a16="http://schemas.microsoft.com/office/drawing/2014/main" id="{36BD4E44-F593-49EB-96F9-56806579B3EC}"/>
              </a:ext>
            </a:extLst>
          </p:cNvPr>
          <p:cNvSpPr>
            <a:spLocks noGrp="1"/>
          </p:cNvSpPr>
          <p:nvPr/>
        </p:nvSpPr>
        <p:spPr>
          <a:xfrm>
            <a:off x="960120" y="18288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01</a:t>
            </a:r>
            <a:endParaRPr sz="1800"/>
          </a:p>
        </p:txBody>
      </p:sp>
      <p:sp>
        <p:nvSpPr>
          <p:cNvPr id="5" name="Заголовок: SwiftUI и UIKit">
            <a:extLst>
              <a:ext uri="{FF2B5EF4-FFF2-40B4-BE49-F238E27FC236}">
                <a16:creationId xmlns:a16="http://schemas.microsoft.com/office/drawing/2014/main" id="{2C1C2386-E9AB-4A10-8F29-3AB2AA52FE70}"/>
              </a:ext>
            </a:extLst>
          </p:cNvPr>
          <p:cNvSpPr>
            <a:spLocks noGrp="1"/>
          </p:cNvSpPr>
          <p:nvPr/>
        </p:nvSpPr>
        <p:spPr>
          <a:xfrm>
            <a:off x="960120" y="2304288"/>
            <a:ext cx="28163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SwiftUI и UIKit</a:t>
            </a:r>
            <a:endParaRPr sz="1700"/>
          </a:p>
        </p:txBody>
      </p:sp>
      <p:sp>
        <p:nvSpPr>
          <p:cNvPr id="6" name="Описание: SwiftUI и UIKit">
            <a:extLst>
              <a:ext uri="{FF2B5EF4-FFF2-40B4-BE49-F238E27FC236}">
                <a16:creationId xmlns:a16="http://schemas.microsoft.com/office/drawing/2014/main" id="{E6BCB6C1-7D07-44D4-9A3F-AF8736B8875D}"/>
              </a:ext>
            </a:extLst>
          </p:cNvPr>
          <p:cNvSpPr>
            <a:spLocks noGrp="1"/>
          </p:cNvSpPr>
          <p:nvPr/>
        </p:nvSpPr>
        <p:spPr>
          <a:xfrm>
            <a:off x="960120" y="2688336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Четыре вкладки на SwiftUI, список и переписка на UIKit</a:t>
            </a:r>
            <a:endParaRPr sz="1400"/>
          </a:p>
        </p:txBody>
      </p:sp>
      <p:sp>
        <p:nvSpPr>
          <p:cNvPr id="7" name="Карточка: Контракт API заранее">
            <a:extLst>
              <a:ext uri="{FF2B5EF4-FFF2-40B4-BE49-F238E27FC236}">
                <a16:creationId xmlns:a16="http://schemas.microsoft.com/office/drawing/2014/main" id="{9691D17E-49BB-45A9-9411-025BC005B2DA}"/>
              </a:ext>
            </a:extLst>
          </p:cNvPr>
          <p:cNvSpPr>
            <a:spLocks noGrp="1"/>
          </p:cNvSpPr>
          <p:nvPr/>
        </p:nvSpPr>
        <p:spPr>
          <a:xfrm>
            <a:off x="4366260" y="1554480"/>
            <a:ext cx="3456432" cy="2103120"/>
          </a:xfrm>
          <a:prstGeom prst="rect">
            <a:avLst/>
          </a:prstGeom>
          <a:solidFill>
            <a:schemeClr val="bg2"/>
          </a:solidFill>
        </p:spPr>
      </p:sp>
      <p:sp>
        <p:nvSpPr>
          <p:cNvPr id="8" name="Номер: Контракт API заранее">
            <a:extLst>
              <a:ext uri="{FF2B5EF4-FFF2-40B4-BE49-F238E27FC236}">
                <a16:creationId xmlns:a16="http://schemas.microsoft.com/office/drawing/2014/main" id="{F53FB1F1-4F54-43DD-9F9A-9952FCDDF27F}"/>
              </a:ext>
            </a:extLst>
          </p:cNvPr>
          <p:cNvSpPr>
            <a:spLocks noGrp="1"/>
          </p:cNvSpPr>
          <p:nvPr/>
        </p:nvSpPr>
        <p:spPr>
          <a:xfrm>
            <a:off x="4686300" y="18288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02</a:t>
            </a:r>
            <a:endParaRPr sz="1800"/>
          </a:p>
        </p:txBody>
      </p:sp>
      <p:sp>
        <p:nvSpPr>
          <p:cNvPr id="9" name="Заголовок: Контракт API заранее">
            <a:extLst>
              <a:ext uri="{FF2B5EF4-FFF2-40B4-BE49-F238E27FC236}">
                <a16:creationId xmlns:a16="http://schemas.microsoft.com/office/drawing/2014/main" id="{F1F1A3A3-8258-4B47-BB61-E609C2CF98DF}"/>
              </a:ext>
            </a:extLst>
          </p:cNvPr>
          <p:cNvSpPr>
            <a:spLocks noGrp="1"/>
          </p:cNvSpPr>
          <p:nvPr/>
        </p:nvSpPr>
        <p:spPr>
          <a:xfrm>
            <a:off x="4686300" y="2304288"/>
            <a:ext cx="28163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Контракт REST и WS</a:t>
            </a:r>
            <a:endParaRPr sz="1700"/>
          </a:p>
        </p:txBody>
      </p:sp>
      <p:sp>
        <p:nvSpPr>
          <p:cNvPr id="10" name="Описание: Контракт API заранее">
            <a:extLst>
              <a:ext uri="{FF2B5EF4-FFF2-40B4-BE49-F238E27FC236}">
                <a16:creationId xmlns:a16="http://schemas.microsoft.com/office/drawing/2014/main" id="{BDB4C967-ADA6-4926-ADA7-5CF971B1F8F1}"/>
              </a:ext>
            </a:extLst>
          </p:cNvPr>
          <p:cNvSpPr>
            <a:spLocks noGrp="1"/>
          </p:cNvSpPr>
          <p:nvPr/>
        </p:nvSpPr>
        <p:spPr>
          <a:xfrm>
            <a:off x="4686300" y="2688336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ViewModel и DataSource для маршрутов; DTO задают контракт API</a:t>
            </a:r>
            <a:endParaRPr sz="1400"/>
          </a:p>
        </p:txBody>
      </p:sp>
      <p:sp>
        <p:nvSpPr>
          <p:cNvPr id="11" name="Карточка: Надёжная сеть">
            <a:extLst>
              <a:ext uri="{FF2B5EF4-FFF2-40B4-BE49-F238E27FC236}">
                <a16:creationId xmlns:a16="http://schemas.microsoft.com/office/drawing/2014/main" id="{A4274AEA-C084-47CA-9401-D7988FE8D7FF}"/>
              </a:ext>
            </a:extLst>
          </p:cNvPr>
          <p:cNvSpPr>
            <a:spLocks noGrp="1"/>
          </p:cNvSpPr>
          <p:nvPr/>
        </p:nvSpPr>
        <p:spPr>
          <a:xfrm>
            <a:off x="8092440" y="1554480"/>
            <a:ext cx="3456432" cy="2103120"/>
          </a:xfrm>
          <a:prstGeom prst="rect">
            <a:avLst/>
          </a:prstGeom>
          <a:solidFill>
            <a:schemeClr val="bg2"/>
          </a:solidFill>
        </p:spPr>
      </p:sp>
      <p:sp>
        <p:nvSpPr>
          <p:cNvPr id="12" name="Номер: Надёжная сеть">
            <a:extLst>
              <a:ext uri="{FF2B5EF4-FFF2-40B4-BE49-F238E27FC236}">
                <a16:creationId xmlns:a16="http://schemas.microsoft.com/office/drawing/2014/main" id="{03F166AB-1C87-4D8C-8D49-853339A3D92F}"/>
              </a:ext>
            </a:extLst>
          </p:cNvPr>
          <p:cNvSpPr>
            <a:spLocks noGrp="1"/>
          </p:cNvSpPr>
          <p:nvPr/>
        </p:nvSpPr>
        <p:spPr>
          <a:xfrm>
            <a:off x="8412480" y="18288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03</a:t>
            </a:r>
            <a:endParaRPr sz="1800"/>
          </a:p>
        </p:txBody>
      </p:sp>
      <p:sp>
        <p:nvSpPr>
          <p:cNvPr id="13" name="Заголовок: Надёжная сеть">
            <a:extLst>
              <a:ext uri="{FF2B5EF4-FFF2-40B4-BE49-F238E27FC236}">
                <a16:creationId xmlns:a16="http://schemas.microsoft.com/office/drawing/2014/main" id="{22531028-F4C4-460E-80A2-41A015E8475B}"/>
              </a:ext>
            </a:extLst>
          </p:cNvPr>
          <p:cNvSpPr>
            <a:spLocks noGrp="1"/>
          </p:cNvSpPr>
          <p:nvPr/>
        </p:nvSpPr>
        <p:spPr>
          <a:xfrm>
            <a:off x="8412480" y="2304288"/>
            <a:ext cx="28163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Сессия и повторы</a:t>
            </a:r>
            <a:endParaRPr sz="1700"/>
          </a:p>
        </p:txBody>
      </p:sp>
      <p:sp>
        <p:nvSpPr>
          <p:cNvPr id="14" name="Описание: Надёжная сеть">
            <a:extLst>
              <a:ext uri="{FF2B5EF4-FFF2-40B4-BE49-F238E27FC236}">
                <a16:creationId xmlns:a16="http://schemas.microsoft.com/office/drawing/2014/main" id="{91BAEA20-7651-49C2-961B-B637328ED957}"/>
              </a:ext>
            </a:extLst>
          </p:cNvPr>
          <p:cNvSpPr>
            <a:spLocks noGrp="1"/>
          </p:cNvSpPr>
          <p:nvPr/>
        </p:nvSpPr>
        <p:spPr>
          <a:xfrm>
            <a:off x="8412480" y="2688336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Keychain, один refresh для параллельных запросов и Idempotency-Key</a:t>
            </a:r>
            <a:endParaRPr sz="1400"/>
          </a:p>
        </p:txBody>
      </p:sp>
      <p:sp>
        <p:nvSpPr>
          <p:cNvPr id="15" name="Карточка: Реальное время">
            <a:extLst>
              <a:ext uri="{FF2B5EF4-FFF2-40B4-BE49-F238E27FC236}">
                <a16:creationId xmlns:a16="http://schemas.microsoft.com/office/drawing/2014/main" id="{2D46296A-D5EF-40AE-8ACE-0A6DE432A289}"/>
              </a:ext>
            </a:extLst>
          </p:cNvPr>
          <p:cNvSpPr>
            <a:spLocks noGrp="1"/>
          </p:cNvSpPr>
          <p:nvPr/>
        </p:nvSpPr>
        <p:spPr>
          <a:xfrm>
            <a:off x="640080" y="3886200"/>
            <a:ext cx="3456432" cy="2103120"/>
          </a:xfrm>
          <a:prstGeom prst="rect">
            <a:avLst/>
          </a:prstGeom>
          <a:solidFill>
            <a:schemeClr val="bg2"/>
          </a:solidFill>
        </p:spPr>
      </p:sp>
      <p:sp>
        <p:nvSpPr>
          <p:cNvPr id="16" name="Номер: Реальное время">
            <a:extLst>
              <a:ext uri="{FF2B5EF4-FFF2-40B4-BE49-F238E27FC236}">
                <a16:creationId xmlns:a16="http://schemas.microsoft.com/office/drawing/2014/main" id="{D79779A8-F09C-4E57-9A1F-28861728B6D5}"/>
              </a:ext>
            </a:extLst>
          </p:cNvPr>
          <p:cNvSpPr>
            <a:spLocks noGrp="1"/>
          </p:cNvSpPr>
          <p:nvPr/>
        </p:nvSpPr>
        <p:spPr>
          <a:xfrm>
            <a:off x="960120" y="4160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04</a:t>
            </a:r>
            <a:endParaRPr sz="1800"/>
          </a:p>
        </p:txBody>
      </p:sp>
      <p:sp>
        <p:nvSpPr>
          <p:cNvPr id="17" name="Заголовок: Реальное время">
            <a:extLst>
              <a:ext uri="{FF2B5EF4-FFF2-40B4-BE49-F238E27FC236}">
                <a16:creationId xmlns:a16="http://schemas.microsoft.com/office/drawing/2014/main" id="{B23FD8F5-A533-4321-B452-92E9CCC10DF6}"/>
              </a:ext>
            </a:extLst>
          </p:cNvPr>
          <p:cNvSpPr>
            <a:spLocks noGrp="1"/>
          </p:cNvSpPr>
          <p:nvPr/>
        </p:nvSpPr>
        <p:spPr>
          <a:xfrm>
            <a:off x="960120" y="4636008"/>
            <a:ext cx="28163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События чатов</a:t>
            </a:r>
            <a:endParaRPr sz="1700"/>
          </a:p>
        </p:txBody>
      </p:sp>
      <p:sp>
        <p:nvSpPr>
          <p:cNvPr id="18" name="Описание: Реальное время">
            <a:extLst>
              <a:ext uri="{FF2B5EF4-FFF2-40B4-BE49-F238E27FC236}">
                <a16:creationId xmlns:a16="http://schemas.microsoft.com/office/drawing/2014/main" id="{0F861DD9-4F04-4967-9E6F-6D590FE370AD}"/>
              </a:ext>
            </a:extLst>
          </p:cNvPr>
          <p:cNvSpPr>
            <a:spLocks noGrp="1"/>
          </p:cNvSpPr>
          <p:nvPr/>
        </p:nvSpPr>
        <p:spPr>
          <a:xfrm>
            <a:off x="960120" y="5020056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Один WebSocket; после переподключения данные читаются через REST</a:t>
            </a:r>
            <a:endParaRPr sz="1400"/>
          </a:p>
        </p:txBody>
      </p:sp>
      <p:sp>
        <p:nvSpPr>
          <p:cNvPr id="19" name="Карточка: Приватная геопозиция">
            <a:extLst>
              <a:ext uri="{FF2B5EF4-FFF2-40B4-BE49-F238E27FC236}">
                <a16:creationId xmlns:a16="http://schemas.microsoft.com/office/drawing/2014/main" id="{3FD0CC60-1AAD-4415-AA2D-E4531396A86F}"/>
              </a:ext>
            </a:extLst>
          </p:cNvPr>
          <p:cNvSpPr>
            <a:spLocks noGrp="1"/>
          </p:cNvSpPr>
          <p:nvPr/>
        </p:nvSpPr>
        <p:spPr>
          <a:xfrm>
            <a:off x="4366260" y="3886200"/>
            <a:ext cx="3456432" cy="2103120"/>
          </a:xfrm>
          <a:prstGeom prst="rect">
            <a:avLst/>
          </a:prstGeom>
          <a:solidFill>
            <a:schemeClr val="bg2"/>
          </a:solidFill>
        </p:spPr>
      </p:sp>
      <p:sp>
        <p:nvSpPr>
          <p:cNvPr id="20" name="Номер: Приватная геопозиция">
            <a:extLst>
              <a:ext uri="{FF2B5EF4-FFF2-40B4-BE49-F238E27FC236}">
                <a16:creationId xmlns:a16="http://schemas.microsoft.com/office/drawing/2014/main" id="{43B20A5A-2A93-42CD-86DB-AA0805E65DF5}"/>
              </a:ext>
            </a:extLst>
          </p:cNvPr>
          <p:cNvSpPr>
            <a:spLocks noGrp="1"/>
          </p:cNvSpPr>
          <p:nvPr/>
        </p:nvSpPr>
        <p:spPr>
          <a:xfrm>
            <a:off x="4686300" y="4160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05</a:t>
            </a:r>
            <a:endParaRPr sz="1800"/>
          </a:p>
        </p:txBody>
      </p:sp>
      <p:sp>
        <p:nvSpPr>
          <p:cNvPr id="21" name="Заголовок: Приватная геопозиция">
            <a:extLst>
              <a:ext uri="{FF2B5EF4-FFF2-40B4-BE49-F238E27FC236}">
                <a16:creationId xmlns:a16="http://schemas.microsoft.com/office/drawing/2014/main" id="{9CC00F2C-5CF6-41C1-AEC1-275D963451A4}"/>
              </a:ext>
            </a:extLst>
          </p:cNvPr>
          <p:cNvSpPr>
            <a:spLocks noGrp="1"/>
          </p:cNvSpPr>
          <p:nvPr/>
        </p:nvSpPr>
        <p:spPr>
          <a:xfrm>
            <a:off x="4686300" y="4636008"/>
            <a:ext cx="28163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Геопозиция в чате</a:t>
            </a:r>
            <a:endParaRPr sz="1700"/>
          </a:p>
        </p:txBody>
      </p:sp>
      <p:sp>
        <p:nvSpPr>
          <p:cNvPr id="22" name="Описание: Приватная геопозиция">
            <a:extLst>
              <a:ext uri="{FF2B5EF4-FFF2-40B4-BE49-F238E27FC236}">
                <a16:creationId xmlns:a16="http://schemas.microsoft.com/office/drawing/2014/main" id="{6237E861-3B6D-4B9D-83D6-7F436AE42C4E}"/>
              </a:ext>
            </a:extLst>
          </p:cNvPr>
          <p:cNvSpPr>
            <a:spLocks noGrp="1"/>
          </p:cNvSpPr>
          <p:nvPr/>
        </p:nvSpPr>
        <p:spPr>
          <a:xfrm>
            <a:off x="4686300" y="5020056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Передача после согласия, только участникам, срок один час</a:t>
            </a:r>
            <a:endParaRPr sz="1400"/>
          </a:p>
        </p:txBody>
      </p:sp>
      <p:sp>
        <p:nvSpPr>
          <p:cNvPr id="23" name="Карточка: Демо-режим">
            <a:extLst>
              <a:ext uri="{FF2B5EF4-FFF2-40B4-BE49-F238E27FC236}">
                <a16:creationId xmlns:a16="http://schemas.microsoft.com/office/drawing/2014/main" id="{4341AC7E-BE08-4D61-B6B3-E9E178E49A9E}"/>
              </a:ext>
            </a:extLst>
          </p:cNvPr>
          <p:cNvSpPr>
            <a:spLocks noGrp="1"/>
          </p:cNvSpPr>
          <p:nvPr/>
        </p:nvSpPr>
        <p:spPr>
          <a:xfrm>
            <a:off x="8092440" y="3886200"/>
            <a:ext cx="3456432" cy="2103120"/>
          </a:xfrm>
          <a:prstGeom prst="rect">
            <a:avLst/>
          </a:prstGeom>
          <a:solidFill>
            <a:schemeClr val="bg2"/>
          </a:solidFill>
        </p:spPr>
      </p:sp>
      <p:sp>
        <p:nvSpPr>
          <p:cNvPr id="24" name="Номер: Демо-режим">
            <a:extLst>
              <a:ext uri="{FF2B5EF4-FFF2-40B4-BE49-F238E27FC236}">
                <a16:creationId xmlns:a16="http://schemas.microsoft.com/office/drawing/2014/main" id="{965302E1-5668-4489-A296-6BA876EF05EF}"/>
              </a:ext>
            </a:extLst>
          </p:cNvPr>
          <p:cNvSpPr>
            <a:spLocks noGrp="1"/>
          </p:cNvSpPr>
          <p:nvPr/>
        </p:nvSpPr>
        <p:spPr>
          <a:xfrm>
            <a:off x="8412480" y="41605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chemeClr val="accent1"/>
                </a:solidFill>
              </a:rPr>
              <a:t>06</a:t>
            </a:r>
            <a:endParaRPr sz="1800"/>
          </a:p>
        </p:txBody>
      </p:sp>
      <p:sp>
        <p:nvSpPr>
          <p:cNvPr id="25" name="Заголовок: Демо-режим">
            <a:extLst>
              <a:ext uri="{FF2B5EF4-FFF2-40B4-BE49-F238E27FC236}">
                <a16:creationId xmlns:a16="http://schemas.microsoft.com/office/drawing/2014/main" id="{E421B86E-5D23-4CAC-8036-212E72D9BFEC}"/>
              </a:ext>
            </a:extLst>
          </p:cNvPr>
          <p:cNvSpPr>
            <a:spLocks noGrp="1"/>
          </p:cNvSpPr>
          <p:nvPr/>
        </p:nvSpPr>
        <p:spPr>
          <a:xfrm>
            <a:off x="8412480" y="4636008"/>
            <a:ext cx="281635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chemeClr val="tx1"/>
                </a:solidFill>
              </a:rPr>
              <a:t>Данные деморежима</a:t>
            </a:r>
            <a:endParaRPr sz="1700"/>
          </a:p>
        </p:txBody>
      </p:sp>
      <p:sp>
        <p:nvSpPr>
          <p:cNvPr id="26" name="Описание: Демо-режим">
            <a:extLst>
              <a:ext uri="{FF2B5EF4-FFF2-40B4-BE49-F238E27FC236}">
                <a16:creationId xmlns:a16="http://schemas.microsoft.com/office/drawing/2014/main" id="{186687A6-F511-40CB-94D8-7156B6571EEC}"/>
              </a:ext>
            </a:extLst>
          </p:cNvPr>
          <p:cNvSpPr>
            <a:spLocks noGrp="1"/>
          </p:cNvSpPr>
          <p:nvPr/>
        </p:nvSpPr>
        <p:spPr>
          <a:xfrm>
            <a:off x="8412480" y="5020056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>
                <a:solidFill>
                  <a:schemeClr val="accent5"/>
                </a:solidFill>
              </a:rPr>
              <a:t>SwiftData хранит профиль и сообщения; MockData заполняет первый запуск</a:t>
            </a:r>
            <a:endParaRPr sz="1400"/>
          </a:p>
        </p:txBody>
      </p:sp>
      <p:sp>
        <p:nvSpPr>
          <p:cNvPr id="27" name="Slide Number Placeholder 0">
            <a:extLst>
              <a:ext uri="{FF2B5EF4-FFF2-40B4-BE49-F238E27FC236}">
                <a16:creationId xmlns:a16="http://schemas.microsoft.com/office/drawing/2014/main" id="{367900C4-438B-416A-8862-BA6E6F65EA9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1672" y="6355080"/>
            <a:ext cx="457200" cy="274320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chemeClr val="accent6"/>
                </a:solidFill>
              </a:defRPr>
            </a:lvl1pPr>
          </a:lstStyle>
          <a:p>
            <a:pPr algn="r">
              <a:buNone/>
            </a:pPr>
            <a:fld id="{BA58DA2A-B818-18A9-29C1-B697728D5BCE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5909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>
            <a:extLst>
              <a:ext uri="{FF2B5EF4-FFF2-40B4-BE49-F238E27FC236}">
                <a16:creationId xmlns:a16="http://schemas.microsoft.com/office/drawing/2014/main" id="{0DFEA222-A76F-4982-8C38-CE96A7F561AA}"/>
              </a:ext>
            </a:extLst>
          </p:cNvPr>
          <p:cNvSpPr>
            <a:spLocks noGrp="1"/>
          </p:cNvSpPr>
          <p:nvPr/>
        </p:nvSpPr>
        <p:spPr>
          <a:xfrm>
            <a:off x="822960" y="2651760"/>
            <a:ext cx="10543032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6000" b="1">
                <a:solidFill>
                  <a:schemeClr val="bg1"/>
                </a:solidFill>
              </a:rPr>
              <a:t>Демонстрация</a:t>
            </a:r>
            <a:endParaRPr sz="6000"/>
          </a:p>
        </p:txBody>
      </p:sp>
      <p:sp>
        <p:nvSpPr>
          <p:cNvPr id="3" name="Подзаголовок">
            <a:extLst>
              <a:ext uri="{FF2B5EF4-FFF2-40B4-BE49-F238E27FC236}">
                <a16:creationId xmlns:a16="http://schemas.microsoft.com/office/drawing/2014/main" id="{6FFB0625-A8F9-471B-BA38-D31D8C8BD7C6}"/>
              </a:ext>
            </a:extLst>
          </p:cNvPr>
          <p:cNvSpPr>
            <a:spLocks noGrp="1"/>
          </p:cNvSpPr>
          <p:nvPr/>
        </p:nvSpPr>
        <p:spPr>
          <a:xfrm>
            <a:off x="822960" y="379476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>
                <a:solidFill>
                  <a:schemeClr val="accent6"/>
                </a:solidFill>
              </a:rPr>
              <a:t>Показываем приложение вживую</a:t>
            </a:r>
            <a:endParaRPr sz="2000"/>
          </a:p>
        </p:txBody>
      </p:sp>
      <p:sp>
        <p:nvSpPr>
          <p:cNvPr id="4" name="Название">
            <a:extLst>
              <a:ext uri="{FF2B5EF4-FFF2-40B4-BE49-F238E27FC236}">
                <a16:creationId xmlns:a16="http://schemas.microsoft.com/office/drawing/2014/main" id="{F3330FEF-293B-4E4C-9B96-E88535843491}"/>
              </a:ext>
            </a:extLst>
          </p:cNvPr>
          <p:cNvSpPr>
            <a:spLocks noGrp="1"/>
          </p:cNvSpPr>
          <p:nvPr/>
        </p:nvSpPr>
        <p:spPr>
          <a:xfrm>
            <a:off x="822960" y="603504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 spc="400">
                <a:solidFill>
                  <a:schemeClr val="accent2"/>
                </a:solidFill>
              </a:rPr>
              <a:t>QUADRO FRIENDS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84183302"/>
      </p:ext>
    </p:extLst>
  </p:cSld>
  <p:clrMapOvr>
    <a:masterClrMapping/>
  </p:clrMapOvr>
</p:sld>
</file>

<file path=ppt/theme/theme1.xml><?xml version="1.0" encoding="utf-8"?>
<a:theme xmlns:a="http://schemas.openxmlformats.org/drawingml/2006/main" name="Quadro Friends">
  <a:themeElements>
    <a:clrScheme name="Quadro Friends">
      <a:dk1>
        <a:srgbClr val="1E2226"/>
      </a:dk1>
      <a:lt1>
        <a:srgbClr val="FFFFFF"/>
      </a:lt1>
      <a:dk2>
        <a:srgbClr val="2E343A"/>
      </a:dk2>
      <a:lt2>
        <a:srgbClr val="F3F4F5"/>
      </a:lt2>
      <a:accent1>
        <a:srgbClr val="506A36"/>
      </a:accent1>
      <a:accent2>
        <a:srgbClr val="8FA876"/>
      </a:accent2>
      <a:accent3>
        <a:srgbClr val="D9DCE0"/>
      </a:accent3>
      <a:accent4>
        <a:srgbClr val="E9ECEF"/>
      </a:accent4>
      <a:accent5>
        <a:srgbClr val="5F6670"/>
      </a:accent5>
      <a:accent6>
        <a:srgbClr val="A9AFB6"/>
      </a:accent6>
      <a:hlink>
        <a:srgbClr val="506A36"/>
      </a:hlink>
      <a:folHlink>
        <a:srgbClr val="5F6670"/>
      </a:folHlink>
    </a:clrScheme>
    <a:fontScheme name="Quadro Frien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uadro Friend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Quadro Friends">
  <a:themeElements>
    <a:clrScheme name="Quadro Friends">
      <a:dk1>
        <a:srgbClr val="1E2226"/>
      </a:dk1>
      <a:lt1>
        <a:srgbClr val="FFFFFF"/>
      </a:lt1>
      <a:dk2>
        <a:srgbClr val="2E343A"/>
      </a:dk2>
      <a:lt2>
        <a:srgbClr val="F3F4F5"/>
      </a:lt2>
      <a:accent1>
        <a:srgbClr val="506A36"/>
      </a:accent1>
      <a:accent2>
        <a:srgbClr val="8FA876"/>
      </a:accent2>
      <a:accent3>
        <a:srgbClr val="D9DCE0"/>
      </a:accent3>
      <a:accent4>
        <a:srgbClr val="E9ECEF"/>
      </a:accent4>
      <a:accent5>
        <a:srgbClr val="5F6670"/>
      </a:accent5>
      <a:accent6>
        <a:srgbClr val="A9AFB6"/>
      </a:accent6>
      <a:hlink>
        <a:srgbClr val="506A36"/>
      </a:hlink>
      <a:folHlink>
        <a:srgbClr val="5F6670"/>
      </a:folHlink>
    </a:clrScheme>
    <a:fontScheme name="Quadro Frien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uadro Friend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1302</Words>
  <Application>Microsoft Macintosh PowerPoint</Application>
  <DocSecurity>0</DocSecurity>
  <PresentationFormat>Широкоэкранный</PresentationFormat>
  <Paragraphs>144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Arial</vt:lpstr>
      <vt:lpstr>Quadro Friends</vt:lpstr>
      <vt:lpstr>Презентация PowerPoint</vt:lpstr>
      <vt:lpstr>Презентация PowerPoint</vt:lpstr>
      <vt:lpstr>О чём проект</vt:lpstr>
      <vt:lpstr>Презентация PowerPoint</vt:lpstr>
      <vt:lpstr>Презентация PowerPoint</vt:lpstr>
      <vt:lpstr>Презентация PowerPoint</vt:lpstr>
      <vt:lpstr>Презентация PowerPoint</vt:lpstr>
      <vt:lpstr>Особенности разработки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123 123</cp:lastModifiedBy>
  <cp:revision>1</cp:revision>
  <dcterms:created xsi:type="dcterms:W3CDTF">2026-10-21T22:48:37Z</dcterms:created>
  <dcterms:modified xsi:type="dcterms:W3CDTF">2026-10-21T23:08:06Z</dcterms:modified>
</cp:coreProperties>
</file>